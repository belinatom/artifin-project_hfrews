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2" r:id="rId3"/>
    <p:sldId id="258" r:id="rId4"/>
    <p:sldId id="270" r:id="rId5"/>
    <p:sldId id="262" r:id="rId6"/>
    <p:sldId id="278" r:id="rId7"/>
    <p:sldId id="275" r:id="rId8"/>
    <p:sldId id="266" r:id="rId9"/>
    <p:sldId id="280" r:id="rId10"/>
    <p:sldId id="281" r:id="rId11"/>
    <p:sldId id="267" r:id="rId12"/>
    <p:sldId id="269" r:id="rId13"/>
    <p:sldId id="27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603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7774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B3652-41AA-577D-A09E-006576CB2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34A0F-159E-A161-F222-5A708FF94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910C90-CDB2-979A-8E3C-79E5EB9E4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0AE24-EB00-2200-5960-3CDCB3459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302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52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51A43-D2E9-6839-56B4-D1C17023E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E9988B-1A92-5671-F1B5-BD95015BC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106A72-9256-9A9B-C1E9-8C11F82BE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38BD1-E38D-4420-FE31-FEE6CA662E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32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42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55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949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585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hyperlink" Target="https://www.unoosa.org/oosa/en/ourwork/space4sdgs/sdg13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aroundersenseofpurpose.eu/sdgs/sdg3/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www.appropedia.org/SDG11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ppropedia.org/SDG11" TargetMode="External"/><Relationship Id="rId3" Type="http://schemas.openxmlformats.org/officeDocument/2006/relationships/image" Target="../media/image29.png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hyperlink" Target="https://www.appropedia.org/ODS13_Acci%C3%B3n_por_el_clima" TargetMode="External"/><Relationship Id="rId4" Type="http://schemas.openxmlformats.org/officeDocument/2006/relationships/hyperlink" Target="https://goumbook.com/sdg-3-good-health-and-well-being/" TargetMode="External"/><Relationship Id="rId9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pubs.usgs.gov/ds/832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healthsites.io/" TargetMode="External"/><Relationship Id="rId4" Type="http://schemas.openxmlformats.org/officeDocument/2006/relationships/hyperlink" Target="https://cds.climate.copernicus.eu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320040" cy="50337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6459969" y="-73152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7132320" y="2286000"/>
            <a:ext cx="2011680" cy="201168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927" y="731520"/>
            <a:ext cx="1463040" cy="1463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06097" y="634702"/>
            <a:ext cx="2657137" cy="28642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6"/>
          <p:cNvSpPr/>
          <p:nvPr/>
        </p:nvSpPr>
        <p:spPr>
          <a:xfrm>
            <a:off x="341550" y="65083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 INTELLIGENCE PROJECT (ARTIFIN)</a:t>
            </a:r>
            <a:endParaRPr lang="en-US" sz="800" b="1" dirty="0"/>
          </a:p>
        </p:txBody>
      </p:sp>
      <p:sp>
        <p:nvSpPr>
          <p:cNvPr id="10" name="Text 7"/>
          <p:cNvSpPr/>
          <p:nvPr/>
        </p:nvSpPr>
        <p:spPr>
          <a:xfrm>
            <a:off x="285071" y="756734"/>
            <a:ext cx="6277089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EXTREME WEATHER-RELATED EVENTS RISK ALERT SYSTEM FOR HEALTHCARE FACILITIES IN TANZANIA. 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600" b="1" dirty="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</a:rPr>
              <a:t>ML BASED SYSTEM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3445136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by </a:t>
            </a:r>
            <a:r>
              <a:rPr lang="en-US" sz="1600" b="1" dirty="0">
                <a:solidFill>
                  <a:srgbClr val="5B7FA6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Belinda</a:t>
            </a:r>
            <a:r>
              <a:rPr lang="en-US" sz="16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Mziray 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HSLU | 24.02.2026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20040" y="212461"/>
            <a:ext cx="514215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DATASET &amp; GOAL </a:t>
            </a:r>
            <a:r>
              <a:rPr lang="en-US" sz="1600" b="1" dirty="0">
                <a:solidFill>
                  <a:schemeClr val="bg1"/>
                </a:solidFill>
                <a:latin typeface="Trebuchet MS" panose="020B0603020202020204" pitchFamily="34" charset="0"/>
              </a:rPr>
              <a:t>INTRODUCTION</a:t>
            </a:r>
            <a:r>
              <a:rPr lang="en-US" sz="1600" b="1" dirty="0">
                <a:solidFill>
                  <a:schemeClr val="bg1"/>
                </a:solidFill>
              </a:rPr>
              <a:t> PRESENTATION  FOR: 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8E46E36-7E59-A8F0-9627-709D9D94CF23}"/>
              </a:ext>
            </a:extLst>
          </p:cNvPr>
          <p:cNvGrpSpPr/>
          <p:nvPr/>
        </p:nvGrpSpPr>
        <p:grpSpPr>
          <a:xfrm>
            <a:off x="539028" y="2599182"/>
            <a:ext cx="2558113" cy="730281"/>
            <a:chOff x="539028" y="2599182"/>
            <a:chExt cx="2558113" cy="730281"/>
          </a:xfrm>
        </p:grpSpPr>
        <p:pic>
          <p:nvPicPr>
            <p:cNvPr id="14" name="Picture 13" descr="The image depicts a heart symbol with a rising graph line, symbolizing a positive connection between good health and well-being.&#10;&#10;AI-generated content may be incorrect.">
              <a:extLst>
                <a:ext uri="{FF2B5EF4-FFF2-40B4-BE49-F238E27FC236}">
                  <a16:creationId xmlns:a16="http://schemas.microsoft.com/office/drawing/2014/main" id="{166D597E-35F9-E245-0471-15AC7398B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539028" y="2604561"/>
              <a:ext cx="720000" cy="720000"/>
            </a:xfrm>
            <a:prstGeom prst="rect">
              <a:avLst/>
            </a:prstGeom>
          </p:spPr>
        </p:pic>
        <p:pic>
          <p:nvPicPr>
            <p:cNvPr id="17" name="Picture 16" descr="CLIMATE ACTION&#10;&#10;AI-generated content may be incorrect.">
              <a:extLst>
                <a:ext uri="{FF2B5EF4-FFF2-40B4-BE49-F238E27FC236}">
                  <a16:creationId xmlns:a16="http://schemas.microsoft.com/office/drawing/2014/main" id="{FFE2500F-48EC-84E6-69CB-221C07890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377141" y="2599182"/>
              <a:ext cx="720000" cy="720000"/>
            </a:xfrm>
            <a:prstGeom prst="rect">
              <a:avLst/>
            </a:prstGeom>
          </p:spPr>
        </p:pic>
        <p:pic>
          <p:nvPicPr>
            <p:cNvPr id="19" name="Picture 18" descr="The image depicts a vibrant urban skyline with various buildings, symbolizing the concept of sustainable cities and communities.&#10;&#10;AI-generated content may be incorrect.">
              <a:extLst>
                <a:ext uri="{FF2B5EF4-FFF2-40B4-BE49-F238E27FC236}">
                  <a16:creationId xmlns:a16="http://schemas.microsoft.com/office/drawing/2014/main" id="{3DA9DBCA-3F8D-4ABB-E5FF-97E72CE43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1444592" y="2609463"/>
              <a:ext cx="720000" cy="7200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EF556E-FA6A-4D38-C575-B2337AD04CEA}"/>
              </a:ext>
            </a:extLst>
          </p:cNvPr>
          <p:cNvSpPr txBox="1"/>
          <p:nvPr/>
        </p:nvSpPr>
        <p:spPr>
          <a:xfrm>
            <a:off x="96750" y="306218"/>
            <a:ext cx="25677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rebuchet MS" panose="020B0603020202020204" pitchFamily="34" charset="0"/>
              </a:rPr>
              <a:t>OUTLINE</a:t>
            </a:r>
            <a:r>
              <a:rPr lang="en-US" sz="2000" b="1" dirty="0">
                <a:latin typeface="Trebuchet MS" panose="020B0603020202020204" pitchFamily="34" charset="0"/>
              </a:rPr>
              <a:t>: </a:t>
            </a:r>
            <a:endParaRPr lang="en-CH" sz="2000" b="1" dirty="0">
              <a:latin typeface="Trebuchet MS" panose="020B06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A37E43-4CAE-7656-D445-28D092185AD8}"/>
              </a:ext>
            </a:extLst>
          </p:cNvPr>
          <p:cNvSpPr txBox="1"/>
          <p:nvPr/>
        </p:nvSpPr>
        <p:spPr>
          <a:xfrm>
            <a:off x="249865" y="951614"/>
            <a:ext cx="866553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INTRODUCTION : PROJECT GOAL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 SOURCES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FEATURE ENGINEERING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MODELING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SYSTEM OUTPUT: FROM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INITIAL ROADMAP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CHALLENGES &amp; OPPORTUNITIES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CONCLUSION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REFERENCES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H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086B558-7C5C-1930-84AB-73A11B30F24D}"/>
              </a:ext>
            </a:extLst>
          </p:cNvPr>
          <p:cNvGrpSpPr/>
          <p:nvPr/>
        </p:nvGrpSpPr>
        <p:grpSpPr>
          <a:xfrm>
            <a:off x="6660235" y="-757164"/>
            <a:ext cx="3200400" cy="4725234"/>
            <a:chOff x="6660235" y="-757164"/>
            <a:chExt cx="3200400" cy="472523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33EC29E-8D6F-83D5-C5BD-DBC6484FE09D}"/>
                </a:ext>
              </a:extLst>
            </p:cNvPr>
            <p:cNvGrpSpPr/>
            <p:nvPr/>
          </p:nvGrpSpPr>
          <p:grpSpPr>
            <a:xfrm>
              <a:off x="6660235" y="-757164"/>
              <a:ext cx="3200400" cy="3200400"/>
              <a:chOff x="6660235" y="-757164"/>
              <a:chExt cx="3200400" cy="3200400"/>
            </a:xfrm>
          </p:grpSpPr>
          <p:sp>
            <p:nvSpPr>
              <p:cNvPr id="5" name="Shape 3">
                <a:extLst>
                  <a:ext uri="{FF2B5EF4-FFF2-40B4-BE49-F238E27FC236}">
                    <a16:creationId xmlns:a16="http://schemas.microsoft.com/office/drawing/2014/main" id="{7702294F-1BBB-DB82-5ACA-9438F1E26D08}"/>
                  </a:ext>
                </a:extLst>
              </p:cNvPr>
              <p:cNvSpPr/>
              <p:nvPr/>
            </p:nvSpPr>
            <p:spPr>
              <a:xfrm>
                <a:off x="6660235" y="-757164"/>
                <a:ext cx="3200400" cy="3200400"/>
              </a:xfrm>
              <a:prstGeom prst="ellipse">
                <a:avLst/>
              </a:prstGeom>
              <a:solidFill>
                <a:srgbClr val="028090">
                  <a:alpha val="20000"/>
                </a:srgbClr>
              </a:solidFill>
              <a:ln w="12700">
                <a:solidFill>
                  <a:srgbClr val="028090">
                    <a:alpha val="20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CH" dirty="0"/>
              </a:p>
            </p:txBody>
          </p:sp>
          <p:pic>
            <p:nvPicPr>
              <p:cNvPr id="4" name="Image 0" descr="preencoded.png">
                <a:extLst>
                  <a:ext uri="{FF2B5EF4-FFF2-40B4-BE49-F238E27FC236}">
                    <a16:creationId xmlns:a16="http://schemas.microsoft.com/office/drawing/2014/main" id="{3CB8828E-3D03-4D2E-F547-F29A7F3D5B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52360" y="306218"/>
                <a:ext cx="1463040" cy="1463040"/>
              </a:xfrm>
              <a:prstGeom prst="rect">
                <a:avLst/>
              </a:prstGeom>
            </p:spPr>
          </p:pic>
        </p:grp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1D2D00F8-60D9-74F7-16DF-85ACA9050C63}"/>
                </a:ext>
              </a:extLst>
            </p:cNvPr>
            <p:cNvSpPr/>
            <p:nvPr/>
          </p:nvSpPr>
          <p:spPr>
            <a:xfrm>
              <a:off x="7254595" y="1956390"/>
              <a:ext cx="2011680" cy="2011680"/>
            </a:xfrm>
            <a:prstGeom prst="ellipse">
              <a:avLst/>
            </a:prstGeom>
            <a:solidFill>
              <a:srgbClr val="02C39A">
                <a:alpha val="15000"/>
              </a:srgbClr>
            </a:solidFill>
            <a:ln w="12700">
              <a:solidFill>
                <a:srgbClr val="02C39A">
                  <a:alpha val="15000"/>
                </a:srgbClr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47FBC6-F9D5-32B3-509D-85153A128418}"/>
              </a:ext>
            </a:extLst>
          </p:cNvPr>
          <p:cNvGrpSpPr/>
          <p:nvPr/>
        </p:nvGrpSpPr>
        <p:grpSpPr>
          <a:xfrm>
            <a:off x="-57171" y="0"/>
            <a:ext cx="2721684" cy="286421"/>
            <a:chOff x="341550" y="634702"/>
            <a:chExt cx="2721684" cy="286421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568D868C-8949-AA99-8923-BF6AB803F68B}"/>
                </a:ext>
              </a:extLst>
            </p:cNvPr>
            <p:cNvSpPr/>
            <p:nvPr/>
          </p:nvSpPr>
          <p:spPr>
            <a:xfrm>
              <a:off x="406097" y="634702"/>
              <a:ext cx="2657137" cy="286421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A99BBA3D-1AE3-CE6D-C928-B6A413619AE7}"/>
                </a:ext>
              </a:extLst>
            </p:cNvPr>
            <p:cNvSpPr/>
            <p:nvPr/>
          </p:nvSpPr>
          <p:spPr>
            <a:xfrm>
              <a:off x="341550" y="650838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kern="0" spc="150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ARTIFICIAL INTELLIGENCE PROJECT (ARTIFIN)</a:t>
              </a:r>
              <a:endParaRPr lang="en-US" sz="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2608779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502920" y="128016"/>
            <a:ext cx="1773936" cy="201168"/>
          </a:xfrm>
          <a:prstGeom prst="roundRect">
            <a:avLst>
              <a:gd name="adj" fmla="val 2272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502920" y="11887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GOAL</a:t>
            </a:r>
            <a:endParaRPr lang="en-US" sz="26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A28B529-AC83-5ADC-411E-B8E3F9FEB674}"/>
              </a:ext>
            </a:extLst>
          </p:cNvPr>
          <p:cNvGrpSpPr/>
          <p:nvPr/>
        </p:nvGrpSpPr>
        <p:grpSpPr>
          <a:xfrm>
            <a:off x="502920" y="1005840"/>
            <a:ext cx="4937760" cy="3291840"/>
            <a:chOff x="502920" y="1005840"/>
            <a:chExt cx="4937760" cy="3291840"/>
          </a:xfrm>
        </p:grpSpPr>
        <p:sp>
          <p:nvSpPr>
            <p:cNvPr id="7" name="Shape 5"/>
            <p:cNvSpPr/>
            <p:nvPr/>
          </p:nvSpPr>
          <p:spPr>
            <a:xfrm>
              <a:off x="502920" y="1005840"/>
              <a:ext cx="4937760" cy="3291840"/>
            </a:xfrm>
            <a:prstGeom prst="rect">
              <a:avLst/>
            </a:prstGeom>
            <a:solidFill>
              <a:srgbClr val="0A2342"/>
            </a:solidFill>
            <a:ln w="12700">
              <a:solidFill>
                <a:srgbClr val="0A2342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CH"/>
            </a:p>
          </p:txBody>
        </p:sp>
        <p:sp>
          <p:nvSpPr>
            <p:cNvPr id="8" name="Shape 6"/>
            <p:cNvSpPr/>
            <p:nvPr/>
          </p:nvSpPr>
          <p:spPr>
            <a:xfrm>
              <a:off x="502920" y="1005840"/>
              <a:ext cx="109728" cy="3291840"/>
            </a:xfrm>
            <a:prstGeom prst="rect">
              <a:avLst/>
            </a:prstGeom>
            <a:solidFill>
              <a:srgbClr val="02C39A"/>
            </a:solidFill>
            <a:ln w="12700">
              <a:solidFill>
                <a:srgbClr val="02C39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960" y="1143000"/>
              <a:ext cx="548640" cy="548640"/>
            </a:xfrm>
            <a:prstGeom prst="rect">
              <a:avLst/>
            </a:prstGeom>
          </p:spPr>
        </p:pic>
      </p:grpSp>
      <p:sp>
        <p:nvSpPr>
          <p:cNvPr id="10" name="Text 7"/>
          <p:cNvSpPr/>
          <p:nvPr/>
        </p:nvSpPr>
        <p:spPr>
          <a:xfrm>
            <a:off x="77724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Facility-Level Risk Alert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7240" y="22860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static geographic data (terrain, facility location) with dynamic </a:t>
            </a:r>
            <a:r>
              <a:rPr lang="en-US" sz="1250" dirty="0">
                <a:solidFill>
                  <a:srgbClr val="5B7FA6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climate</a:t>
            </a:r>
            <a:r>
              <a:rPr lang="en-US" sz="125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signals (rainfall, soil moisture) to flag healthcare facilities at risk of weather-related disruption — as a near-real-time or seasonal alert layer.</a:t>
            </a:r>
            <a:endParaRPr lang="en-US" sz="125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1C843E9-B2EC-D403-EDC0-196726AAFF9F}"/>
              </a:ext>
            </a:extLst>
          </p:cNvPr>
          <p:cNvGrpSpPr/>
          <p:nvPr/>
        </p:nvGrpSpPr>
        <p:grpSpPr>
          <a:xfrm>
            <a:off x="5695860" y="1755984"/>
            <a:ext cx="2971800" cy="1649622"/>
            <a:chOff x="5669280" y="1367898"/>
            <a:chExt cx="2971800" cy="1649622"/>
          </a:xfrm>
        </p:grpSpPr>
        <p:sp>
          <p:nvSpPr>
            <p:cNvPr id="16" name="Shape 13"/>
            <p:cNvSpPr/>
            <p:nvPr/>
          </p:nvSpPr>
          <p:spPr>
            <a:xfrm>
              <a:off x="5669280" y="2103120"/>
              <a:ext cx="2971800" cy="914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AF4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CH"/>
            </a:p>
          </p:txBody>
        </p:sp>
        <p:sp>
          <p:nvSpPr>
            <p:cNvPr id="17" name="Shape 14"/>
            <p:cNvSpPr/>
            <p:nvPr/>
          </p:nvSpPr>
          <p:spPr>
            <a:xfrm>
              <a:off x="5669280" y="2103120"/>
              <a:ext cx="91440" cy="914400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8" name="Text 15"/>
            <p:cNvSpPr/>
            <p:nvPr/>
          </p:nvSpPr>
          <p:spPr>
            <a:xfrm>
              <a:off x="5852160" y="2194560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A2342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Ternary Alert</a:t>
              </a:r>
              <a:endParaRPr lang="en-US" sz="13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5852160" y="2542032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B7FA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High/Med/Low threshold flags</a:t>
              </a:r>
              <a:endParaRPr lang="en-US" sz="1100" dirty="0"/>
            </a:p>
          </p:txBody>
        </p:sp>
        <p:sp>
          <p:nvSpPr>
            <p:cNvPr id="25" name="Shape 2">
              <a:extLst>
                <a:ext uri="{FF2B5EF4-FFF2-40B4-BE49-F238E27FC236}">
                  <a16:creationId xmlns:a16="http://schemas.microsoft.com/office/drawing/2014/main" id="{8BA3C632-734F-0B9D-43A4-8007164DD9CA}"/>
                </a:ext>
              </a:extLst>
            </p:cNvPr>
            <p:cNvSpPr/>
            <p:nvPr/>
          </p:nvSpPr>
          <p:spPr>
            <a:xfrm>
              <a:off x="6217920" y="1367898"/>
              <a:ext cx="1773936" cy="290540"/>
            </a:xfrm>
            <a:prstGeom prst="roundRect">
              <a:avLst>
                <a:gd name="adj" fmla="val 22727"/>
              </a:avLst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400" b="1" dirty="0">
                  <a:solidFill>
                    <a:schemeClr val="bg2"/>
                  </a:solidFill>
                </a:rPr>
                <a:t>OUTPUT DESIGN</a:t>
              </a:r>
              <a:endParaRPr lang="en-CH" sz="14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E2AEA7D-E19B-A6AB-ECCE-E73D20AD8382}"/>
              </a:ext>
            </a:extLst>
          </p:cNvPr>
          <p:cNvGrpSpPr/>
          <p:nvPr/>
        </p:nvGrpSpPr>
        <p:grpSpPr>
          <a:xfrm>
            <a:off x="7386969" y="-648352"/>
            <a:ext cx="2508221" cy="2431432"/>
            <a:chOff x="6660235" y="-757164"/>
            <a:chExt cx="3200400" cy="3200400"/>
          </a:xfrm>
        </p:grpSpPr>
        <p:sp>
          <p:nvSpPr>
            <p:cNvPr id="32" name="Shape 3">
              <a:extLst>
                <a:ext uri="{FF2B5EF4-FFF2-40B4-BE49-F238E27FC236}">
                  <a16:creationId xmlns:a16="http://schemas.microsoft.com/office/drawing/2014/main" id="{D12C6E80-74F3-3457-76FA-D20E11F0534E}"/>
                </a:ext>
              </a:extLst>
            </p:cNvPr>
            <p:cNvSpPr/>
            <p:nvPr/>
          </p:nvSpPr>
          <p:spPr>
            <a:xfrm>
              <a:off x="6660235" y="-757164"/>
              <a:ext cx="3200400" cy="3200400"/>
            </a:xfrm>
            <a:prstGeom prst="ellipse">
              <a:avLst/>
            </a:prstGeom>
            <a:solidFill>
              <a:srgbClr val="028090">
                <a:alpha val="20000"/>
              </a:srgbClr>
            </a:solidFill>
            <a:ln w="12700">
              <a:solidFill>
                <a:srgbClr val="028090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CH" dirty="0"/>
            </a:p>
          </p:txBody>
        </p:sp>
        <p:pic>
          <p:nvPicPr>
            <p:cNvPr id="33" name="Image 0" descr="preencoded.png">
              <a:extLst>
                <a:ext uri="{FF2B5EF4-FFF2-40B4-BE49-F238E27FC236}">
                  <a16:creationId xmlns:a16="http://schemas.microsoft.com/office/drawing/2014/main" id="{BECC9353-5B42-B544-35CD-C4B684F92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52360" y="306218"/>
              <a:ext cx="1463040" cy="146304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BEE97C-D223-F692-534D-CA84E5125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E59B7D-94BB-49D8-A99F-76D644A5CAE1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D0529BC-7FEF-24CE-589E-A58F9930FD8B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AE862C8-3BEC-7135-AB37-C4A27F895738}"/>
              </a:ext>
            </a:extLst>
          </p:cNvPr>
          <p:cNvSpPr/>
          <p:nvPr/>
        </p:nvSpPr>
        <p:spPr>
          <a:xfrm>
            <a:off x="188696" y="4171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50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SOURCES</a:t>
            </a:r>
            <a:endParaRPr lang="en-US" sz="28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D316C05-D9C6-33A5-2E1B-A3ABAB9B8F1C}"/>
              </a:ext>
            </a:extLst>
          </p:cNvPr>
          <p:cNvGrpSpPr/>
          <p:nvPr/>
        </p:nvGrpSpPr>
        <p:grpSpPr>
          <a:xfrm>
            <a:off x="136783" y="1272894"/>
            <a:ext cx="2045779" cy="2771042"/>
            <a:chOff x="320040" y="960120"/>
            <a:chExt cx="2743200" cy="3703321"/>
          </a:xfrm>
        </p:grpSpPr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D1F1421C-03ED-3CEF-36BA-51DB0E68926E}"/>
                </a:ext>
              </a:extLst>
            </p:cNvPr>
            <p:cNvSpPr/>
            <p:nvPr/>
          </p:nvSpPr>
          <p:spPr>
            <a:xfrm>
              <a:off x="320040" y="960120"/>
              <a:ext cx="2743200" cy="3703320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5ED5E741-270C-E634-C798-3CDFBD55DF03}"/>
                </a:ext>
              </a:extLst>
            </p:cNvPr>
            <p:cNvSpPr/>
            <p:nvPr/>
          </p:nvSpPr>
          <p:spPr>
            <a:xfrm>
              <a:off x="320040" y="2103120"/>
              <a:ext cx="2743200" cy="256032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pic>
          <p:nvPicPr>
            <p:cNvPr id="9" name="Image 0" descr="preencoded.png">
              <a:extLst>
                <a:ext uri="{FF2B5EF4-FFF2-40B4-BE49-F238E27FC236}">
                  <a16:creationId xmlns:a16="http://schemas.microsoft.com/office/drawing/2014/main" id="{0D08E8F1-1FA2-E20D-512A-C6E66C721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71600" y="1005840"/>
              <a:ext cx="640080" cy="640080"/>
            </a:xfrm>
            <a:prstGeom prst="rect">
              <a:avLst/>
            </a:prstGeom>
          </p:spPr>
        </p:pic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02E823D8-DC6E-A3F0-18D5-D122EBD87253}"/>
                </a:ext>
              </a:extLst>
            </p:cNvPr>
            <p:cNvSpPr/>
            <p:nvPr/>
          </p:nvSpPr>
          <p:spPr>
            <a:xfrm>
              <a:off x="411480" y="1719072"/>
              <a:ext cx="25603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Healthsites.io</a:t>
              </a:r>
              <a:endParaRPr lang="en-US" sz="1300" dirty="0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C12F6F7E-5538-ED5F-5B96-80FEEBC9097B}"/>
                </a:ext>
              </a:extLst>
            </p:cNvPr>
            <p:cNvSpPr/>
            <p:nvPr/>
          </p:nvSpPr>
          <p:spPr>
            <a:xfrm>
              <a:off x="411480" y="2148840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850" dirty="0"/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6C718E0F-FAAD-3BFF-543B-8E651804C6AC}"/>
                </a:ext>
              </a:extLst>
            </p:cNvPr>
            <p:cNvSpPr/>
            <p:nvPr/>
          </p:nvSpPr>
          <p:spPr>
            <a:xfrm>
              <a:off x="434982" y="2001589"/>
              <a:ext cx="2468880" cy="26170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1A2E3C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~6,700 facilities in Tanzania</a:t>
              </a:r>
              <a:endParaRPr lang="en-US" sz="1200" dirty="0">
                <a:latin typeface="Trebuchet MS" panose="020B0603020202020204" pitchFamily="34" charset="0"/>
              </a:endParaRPr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1A2E3C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Lat / Lon coordinates</a:t>
              </a:r>
              <a:endParaRPr lang="en-US" sz="1200" dirty="0">
                <a:latin typeface="Trebuchet MS" panose="020B0603020202020204" pitchFamily="34" charset="0"/>
              </a:endParaRPr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1A2E3C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Facility type (hospital, clinic, dispensary)</a:t>
              </a:r>
              <a:endParaRPr lang="en-US" sz="1200" dirty="0">
                <a:latin typeface="Trebuchet MS" panose="020B0603020202020204" pitchFamily="34" charset="0"/>
              </a:endParaRPr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1A2E3C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Open source &amp; regularly updated</a:t>
              </a:r>
              <a:endParaRPr lang="en-US" sz="1200" dirty="0">
                <a:latin typeface="Trebuchet MS" panose="020B0603020202020204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EFF47DA-85BF-60F0-7C20-666081701BA5}"/>
              </a:ext>
            </a:extLst>
          </p:cNvPr>
          <p:cNvGrpSpPr/>
          <p:nvPr/>
        </p:nvGrpSpPr>
        <p:grpSpPr>
          <a:xfrm>
            <a:off x="2411601" y="1269452"/>
            <a:ext cx="2012642" cy="2808475"/>
            <a:chOff x="3246120" y="960120"/>
            <a:chExt cx="2743200" cy="3703320"/>
          </a:xfrm>
        </p:grpSpPr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8F9C729D-A003-F85A-AE51-4B37ABDBCD7E}"/>
                </a:ext>
              </a:extLst>
            </p:cNvPr>
            <p:cNvSpPr/>
            <p:nvPr/>
          </p:nvSpPr>
          <p:spPr>
            <a:xfrm>
              <a:off x="3246120" y="960120"/>
              <a:ext cx="2743200" cy="3703320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4" name="Shape 11">
              <a:extLst>
                <a:ext uri="{FF2B5EF4-FFF2-40B4-BE49-F238E27FC236}">
                  <a16:creationId xmlns:a16="http://schemas.microsoft.com/office/drawing/2014/main" id="{9F45BC5D-1D7F-59A4-B8B3-23C72C0EF7D5}"/>
                </a:ext>
              </a:extLst>
            </p:cNvPr>
            <p:cNvSpPr/>
            <p:nvPr/>
          </p:nvSpPr>
          <p:spPr>
            <a:xfrm>
              <a:off x="3246120" y="2103120"/>
              <a:ext cx="2743200" cy="2560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pic>
          <p:nvPicPr>
            <p:cNvPr id="15" name="Image 1" descr="preencoded.png">
              <a:extLst>
                <a:ext uri="{FF2B5EF4-FFF2-40B4-BE49-F238E27FC236}">
                  <a16:creationId xmlns:a16="http://schemas.microsoft.com/office/drawing/2014/main" id="{9C84BCA0-E811-A503-B3FC-87F79AE63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97680" y="1005841"/>
              <a:ext cx="640079" cy="640079"/>
            </a:xfrm>
            <a:prstGeom prst="rect">
              <a:avLst/>
            </a:prstGeom>
          </p:spPr>
        </p:pic>
        <p:sp>
          <p:nvSpPr>
            <p:cNvPr id="16" name="Text 12">
              <a:extLst>
                <a:ext uri="{FF2B5EF4-FFF2-40B4-BE49-F238E27FC236}">
                  <a16:creationId xmlns:a16="http://schemas.microsoft.com/office/drawing/2014/main" id="{477F91F8-C267-5DA2-3033-19668E784841}"/>
                </a:ext>
              </a:extLst>
            </p:cNvPr>
            <p:cNvSpPr/>
            <p:nvPr/>
          </p:nvSpPr>
          <p:spPr>
            <a:xfrm>
              <a:off x="3337560" y="1719072"/>
              <a:ext cx="25603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CHIRPS</a:t>
              </a:r>
              <a:endParaRPr lang="en-US" sz="1300" dirty="0"/>
            </a:p>
          </p:txBody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C97643A0-2C64-F161-BD92-2DE24345892B}"/>
                </a:ext>
              </a:extLst>
            </p:cNvPr>
            <p:cNvSpPr/>
            <p:nvPr/>
          </p:nvSpPr>
          <p:spPr>
            <a:xfrm>
              <a:off x="3337560" y="2148840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kern="0" spc="150" dirty="0">
                  <a:solidFill>
                    <a:srgbClr val="1C7293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The DYNAMIC SIGNAL</a:t>
              </a:r>
              <a:endParaRPr lang="en-US" sz="850" dirty="0"/>
            </a:p>
          </p:txBody>
        </p:sp>
        <p:sp>
          <p:nvSpPr>
            <p:cNvPr id="18" name="Text 14">
              <a:extLst>
                <a:ext uri="{FF2B5EF4-FFF2-40B4-BE49-F238E27FC236}">
                  <a16:creationId xmlns:a16="http://schemas.microsoft.com/office/drawing/2014/main" id="{E3E04324-A57E-8D95-301B-6F028B51422D}"/>
                </a:ext>
              </a:extLst>
            </p:cNvPr>
            <p:cNvSpPr/>
            <p:nvPr/>
          </p:nvSpPr>
          <p:spPr>
            <a:xfrm>
              <a:off x="3331201" y="2135476"/>
              <a:ext cx="2566679" cy="23472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1A2E3C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Daily rainfall (5km res.) </a:t>
              </a:r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endParaRPr lang="en-US" sz="1400" dirty="0">
                <a:solidFill>
                  <a:srgbClr val="1A2E3C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endParaRPr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1A2E3C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1981 – near real-time. 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913652-4B8A-4B7E-0416-E562002587C5}"/>
              </a:ext>
            </a:extLst>
          </p:cNvPr>
          <p:cNvGrpSpPr/>
          <p:nvPr/>
        </p:nvGrpSpPr>
        <p:grpSpPr>
          <a:xfrm>
            <a:off x="6943701" y="1246314"/>
            <a:ext cx="2012642" cy="2879119"/>
            <a:chOff x="6172198" y="960120"/>
            <a:chExt cx="2744979" cy="3703320"/>
          </a:xfrm>
        </p:grpSpPr>
        <p:sp>
          <p:nvSpPr>
            <p:cNvPr id="19" name="Shape 15">
              <a:extLst>
                <a:ext uri="{FF2B5EF4-FFF2-40B4-BE49-F238E27FC236}">
                  <a16:creationId xmlns:a16="http://schemas.microsoft.com/office/drawing/2014/main" id="{57D43D90-5793-182C-6936-6280687A59EB}"/>
                </a:ext>
              </a:extLst>
            </p:cNvPr>
            <p:cNvSpPr/>
            <p:nvPr/>
          </p:nvSpPr>
          <p:spPr>
            <a:xfrm>
              <a:off x="6172208" y="960120"/>
              <a:ext cx="2743200" cy="3703320"/>
            </a:xfrm>
            <a:prstGeom prst="rect">
              <a:avLst/>
            </a:prstGeom>
            <a:solidFill>
              <a:srgbClr val="1C5E4F"/>
            </a:solidFill>
            <a:ln w="12700">
              <a:solidFill>
                <a:srgbClr val="1C5E4F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20" name="Shape 16">
              <a:extLst>
                <a:ext uri="{FF2B5EF4-FFF2-40B4-BE49-F238E27FC236}">
                  <a16:creationId xmlns:a16="http://schemas.microsoft.com/office/drawing/2014/main" id="{5B576C7F-8662-3BE6-4A2D-473FDE8927A6}"/>
                </a:ext>
              </a:extLst>
            </p:cNvPr>
            <p:cNvSpPr/>
            <p:nvPr/>
          </p:nvSpPr>
          <p:spPr>
            <a:xfrm>
              <a:off x="6172198" y="2103120"/>
              <a:ext cx="2743202" cy="2560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CH" dirty="0"/>
            </a:p>
          </p:txBody>
        </p:sp>
        <p:pic>
          <p:nvPicPr>
            <p:cNvPr id="21" name="Image 2" descr="preencoded.png">
              <a:extLst>
                <a:ext uri="{FF2B5EF4-FFF2-40B4-BE49-F238E27FC236}">
                  <a16:creationId xmlns:a16="http://schemas.microsoft.com/office/drawing/2014/main" id="{B12FC910-C58B-F66A-65DD-95B286F97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23760" y="1005840"/>
              <a:ext cx="640080" cy="640080"/>
            </a:xfrm>
            <a:prstGeom prst="rect">
              <a:avLst/>
            </a:prstGeom>
          </p:spPr>
        </p:pic>
        <p:sp>
          <p:nvSpPr>
            <p:cNvPr id="22" name="Text 17">
              <a:extLst>
                <a:ext uri="{FF2B5EF4-FFF2-40B4-BE49-F238E27FC236}">
                  <a16:creationId xmlns:a16="http://schemas.microsoft.com/office/drawing/2014/main" id="{B870FFA2-17BA-BA06-A74B-40C7A66C24BE}"/>
                </a:ext>
              </a:extLst>
            </p:cNvPr>
            <p:cNvSpPr/>
            <p:nvPr/>
          </p:nvSpPr>
          <p:spPr>
            <a:xfrm>
              <a:off x="6263640" y="1719072"/>
              <a:ext cx="25603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COPERNICUS: Global DEM</a:t>
              </a:r>
              <a:endParaRPr lang="en-US" sz="1200" dirty="0"/>
            </a:p>
          </p:txBody>
        </p:sp>
        <p:sp>
          <p:nvSpPr>
            <p:cNvPr id="23" name="Text 18">
              <a:extLst>
                <a:ext uri="{FF2B5EF4-FFF2-40B4-BE49-F238E27FC236}">
                  <a16:creationId xmlns:a16="http://schemas.microsoft.com/office/drawing/2014/main" id="{D2355BF7-4330-51EA-7674-7EDBB3144B84}"/>
                </a:ext>
              </a:extLst>
            </p:cNvPr>
            <p:cNvSpPr/>
            <p:nvPr/>
          </p:nvSpPr>
          <p:spPr>
            <a:xfrm>
              <a:off x="6263640" y="2148840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kern="0" spc="150" dirty="0">
                  <a:solidFill>
                    <a:srgbClr val="1C5E4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The STATIC RISK</a:t>
              </a:r>
              <a:endParaRPr lang="en-US" sz="850" dirty="0"/>
            </a:p>
          </p:txBody>
        </p:sp>
        <p:sp>
          <p:nvSpPr>
            <p:cNvPr id="24" name="Text 19">
              <a:extLst>
                <a:ext uri="{FF2B5EF4-FFF2-40B4-BE49-F238E27FC236}">
                  <a16:creationId xmlns:a16="http://schemas.microsoft.com/office/drawing/2014/main" id="{74161E40-741B-DC76-E228-16642AFA4FAE}"/>
                </a:ext>
              </a:extLst>
            </p:cNvPr>
            <p:cNvSpPr/>
            <p:nvPr/>
          </p:nvSpPr>
          <p:spPr>
            <a:xfrm>
              <a:off x="6263640" y="2479581"/>
              <a:ext cx="2653537" cy="2103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1A2E3C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Slope calculation per facility</a:t>
              </a:r>
              <a:endParaRPr lang="en-US" sz="1200" dirty="0">
                <a:latin typeface="Trebuchet MS" panose="020B0603020202020204" pitchFamily="34" charset="0"/>
              </a:endParaRPr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1A2E3C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Steep = landslide risk</a:t>
              </a:r>
              <a:endParaRPr lang="en-US" sz="1200" dirty="0">
                <a:latin typeface="Trebuchet MS" panose="020B0603020202020204" pitchFamily="34" charset="0"/>
              </a:endParaRPr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1A2E3C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Low-lying = flood accumulation risk</a:t>
              </a:r>
            </a:p>
            <a:p>
              <a:pPr>
                <a:spcAft>
                  <a:spcPts val="500"/>
                </a:spcAft>
                <a:buSzPct val="100000"/>
              </a:pPr>
              <a:endParaRPr lang="en-US" sz="1200" dirty="0">
                <a:latin typeface="Trebuchet MS" panose="020B0603020202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3477C99-92A8-415C-B780-062EA0A13576}"/>
              </a:ext>
            </a:extLst>
          </p:cNvPr>
          <p:cNvGrpSpPr/>
          <p:nvPr/>
        </p:nvGrpSpPr>
        <p:grpSpPr>
          <a:xfrm>
            <a:off x="4702009" y="1254176"/>
            <a:ext cx="2012642" cy="2808475"/>
            <a:chOff x="3246120" y="960120"/>
            <a:chExt cx="2743200" cy="3703320"/>
          </a:xfrm>
        </p:grpSpPr>
        <p:sp>
          <p:nvSpPr>
            <p:cNvPr id="30" name="Shape 10">
              <a:extLst>
                <a:ext uri="{FF2B5EF4-FFF2-40B4-BE49-F238E27FC236}">
                  <a16:creationId xmlns:a16="http://schemas.microsoft.com/office/drawing/2014/main" id="{3CF0AA0B-CA36-4F3F-C7E8-C03A2F0C0EDC}"/>
                </a:ext>
              </a:extLst>
            </p:cNvPr>
            <p:cNvSpPr/>
            <p:nvPr/>
          </p:nvSpPr>
          <p:spPr>
            <a:xfrm>
              <a:off x="3246120" y="960120"/>
              <a:ext cx="2743200" cy="3703320"/>
            </a:xfrm>
            <a:prstGeom prst="rect">
              <a:avLst/>
            </a:prstGeom>
            <a:solidFill>
              <a:srgbClr val="0070C0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31" name="Shape 11">
              <a:extLst>
                <a:ext uri="{FF2B5EF4-FFF2-40B4-BE49-F238E27FC236}">
                  <a16:creationId xmlns:a16="http://schemas.microsoft.com/office/drawing/2014/main" id="{65E1B3B6-4333-D2A9-88C5-59F67BDFED44}"/>
                </a:ext>
              </a:extLst>
            </p:cNvPr>
            <p:cNvSpPr/>
            <p:nvPr/>
          </p:nvSpPr>
          <p:spPr>
            <a:xfrm>
              <a:off x="3246120" y="2103120"/>
              <a:ext cx="2743200" cy="2560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1400" dirty="0">
                <a:latin typeface="Trebuchet MS" panose="020B060302020202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Trebuchet MS" panose="020B0603020202020204" pitchFamily="34" charset="0"/>
                </a:rPr>
                <a:t>Soil Moisture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Trebuchet MS" panose="020B0603020202020204" pitchFamily="34" charset="0"/>
                </a:rPr>
                <a:t>1950 – near real-time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Trebuchet MS" panose="020B0603020202020204" pitchFamily="34" charset="0"/>
                </a:rPr>
                <a:t>Layer 1 –  4 soil coverage.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CH" sz="1400" dirty="0">
                <a:latin typeface="Trebuchet MS" panose="020B0603020202020204" pitchFamily="34" charset="0"/>
              </a:endParaRPr>
            </a:p>
          </p:txBody>
        </p:sp>
        <p:sp>
          <p:nvSpPr>
            <p:cNvPr id="33" name="Text 12">
              <a:extLst>
                <a:ext uri="{FF2B5EF4-FFF2-40B4-BE49-F238E27FC236}">
                  <a16:creationId xmlns:a16="http://schemas.microsoft.com/office/drawing/2014/main" id="{C708B066-857C-BFFA-CD53-F2565F13E221}"/>
                </a:ext>
              </a:extLst>
            </p:cNvPr>
            <p:cNvSpPr/>
            <p:nvPr/>
          </p:nvSpPr>
          <p:spPr>
            <a:xfrm>
              <a:off x="3337560" y="1719072"/>
              <a:ext cx="25603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Trebuchet MS" pitchFamily="34" charset="0"/>
                </a:rPr>
                <a:t>COPERNICUS: ERA5 – LAND </a:t>
              </a:r>
              <a:endParaRPr lang="en-US" sz="1100" dirty="0"/>
            </a:p>
          </p:txBody>
        </p:sp>
        <p:sp>
          <p:nvSpPr>
            <p:cNvPr id="34" name="Text 13">
              <a:extLst>
                <a:ext uri="{FF2B5EF4-FFF2-40B4-BE49-F238E27FC236}">
                  <a16:creationId xmlns:a16="http://schemas.microsoft.com/office/drawing/2014/main" id="{4BCA7CE1-23F3-6E95-41D9-2E1FF26C85B8}"/>
                </a:ext>
              </a:extLst>
            </p:cNvPr>
            <p:cNvSpPr/>
            <p:nvPr/>
          </p:nvSpPr>
          <p:spPr>
            <a:xfrm>
              <a:off x="3337560" y="2148840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kern="0" spc="150" dirty="0">
                  <a:solidFill>
                    <a:srgbClr val="1C7293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The DYNAMIC SIGNAL</a:t>
              </a:r>
              <a:endParaRPr lang="en-US" sz="850" dirty="0"/>
            </a:p>
          </p:txBody>
        </p:sp>
        <p:sp>
          <p:nvSpPr>
            <p:cNvPr id="35" name="Text 14">
              <a:extLst>
                <a:ext uri="{FF2B5EF4-FFF2-40B4-BE49-F238E27FC236}">
                  <a16:creationId xmlns:a16="http://schemas.microsoft.com/office/drawing/2014/main" id="{244F78A4-3E79-789C-3C0D-A5620D0A0558}"/>
                </a:ext>
              </a:extLst>
            </p:cNvPr>
            <p:cNvSpPr/>
            <p:nvPr/>
          </p:nvSpPr>
          <p:spPr>
            <a:xfrm>
              <a:off x="3331201" y="2135476"/>
              <a:ext cx="2566679" cy="23472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endParaRPr lang="en-US" sz="1400" dirty="0"/>
            </a:p>
          </p:txBody>
        </p:sp>
      </p:grpSp>
      <p:pic>
        <p:nvPicPr>
          <p:cNvPr id="38" name="Picture 37" descr="Build your website in 60 seconds&#10;&#10;AI-generated content may be incorrect.">
            <a:extLst>
              <a:ext uri="{FF2B5EF4-FFF2-40B4-BE49-F238E27FC236}">
                <a16:creationId xmlns:a16="http://schemas.microsoft.com/office/drawing/2014/main" id="{F83DAD6F-ADDE-46E7-E2A2-2A758F8C8E1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107" t="27701" r="31465" b="24383"/>
          <a:stretch>
            <a:fillRect/>
          </a:stretch>
        </p:blipFill>
        <p:spPr>
          <a:xfrm>
            <a:off x="5430019" y="1284517"/>
            <a:ext cx="606334" cy="517485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26E9CA86-DA0F-6342-86C6-D71CD31F0653}"/>
              </a:ext>
            </a:extLst>
          </p:cNvPr>
          <p:cNvGrpSpPr/>
          <p:nvPr/>
        </p:nvGrpSpPr>
        <p:grpSpPr>
          <a:xfrm>
            <a:off x="7700480" y="-532545"/>
            <a:ext cx="2012642" cy="1812852"/>
            <a:chOff x="6660235" y="-757164"/>
            <a:chExt cx="3200400" cy="3200400"/>
          </a:xfrm>
        </p:grpSpPr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12C40696-62A8-8D65-2BDB-B2DC3D406FEB}"/>
                </a:ext>
              </a:extLst>
            </p:cNvPr>
            <p:cNvSpPr/>
            <p:nvPr/>
          </p:nvSpPr>
          <p:spPr>
            <a:xfrm>
              <a:off x="6660235" y="-757164"/>
              <a:ext cx="3200400" cy="3200400"/>
            </a:xfrm>
            <a:prstGeom prst="ellipse">
              <a:avLst/>
            </a:prstGeom>
            <a:solidFill>
              <a:srgbClr val="028090">
                <a:alpha val="20000"/>
              </a:srgbClr>
            </a:solidFill>
            <a:ln w="12700">
              <a:solidFill>
                <a:srgbClr val="028090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CH" dirty="0"/>
            </a:p>
          </p:txBody>
        </p:sp>
        <p:pic>
          <p:nvPicPr>
            <p:cNvPr id="41" name="Image 0" descr="preencoded.png">
              <a:extLst>
                <a:ext uri="{FF2B5EF4-FFF2-40B4-BE49-F238E27FC236}">
                  <a16:creationId xmlns:a16="http://schemas.microsoft.com/office/drawing/2014/main" id="{A4DBFA06-F6D2-0F0D-E57E-6B83CCE1E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52360" y="306218"/>
              <a:ext cx="1463040" cy="1463040"/>
            </a:xfrm>
            <a:prstGeom prst="rect">
              <a:avLst/>
            </a:prstGeom>
          </p:spPr>
        </p:pic>
      </p:grpSp>
      <p:sp>
        <p:nvSpPr>
          <p:cNvPr id="42" name="Shape 5">
            <a:extLst>
              <a:ext uri="{FF2B5EF4-FFF2-40B4-BE49-F238E27FC236}">
                <a16:creationId xmlns:a16="http://schemas.microsoft.com/office/drawing/2014/main" id="{5819BDF2-0CD9-6225-5A8D-F7CEC80E22EE}"/>
              </a:ext>
            </a:extLst>
          </p:cNvPr>
          <p:cNvSpPr/>
          <p:nvPr/>
        </p:nvSpPr>
        <p:spPr>
          <a:xfrm>
            <a:off x="15948" y="60507"/>
            <a:ext cx="2657137" cy="28642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0204346E-DBB3-C2F7-C7C6-6A18DC060868}"/>
              </a:ext>
            </a:extLst>
          </p:cNvPr>
          <p:cNvSpPr/>
          <p:nvPr/>
        </p:nvSpPr>
        <p:spPr>
          <a:xfrm>
            <a:off x="-48599" y="12980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 INTELLIGENCE PROJECT (ARTIFIN)</a:t>
            </a:r>
            <a:endParaRPr lang="en-US" sz="800" b="1" dirty="0"/>
          </a:p>
        </p:txBody>
      </p:sp>
    </p:spTree>
    <p:extLst>
      <p:ext uri="{BB962C8B-B14F-4D97-AF65-F5344CB8AC3E}">
        <p14:creationId xmlns:p14="http://schemas.microsoft.com/office/powerpoint/2010/main" val="263561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502920" y="128016"/>
            <a:ext cx="2542032" cy="201168"/>
          </a:xfrm>
          <a:prstGeom prst="roundRect">
            <a:avLst>
              <a:gd name="adj" fmla="val 2272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502920" y="11887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1466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COMPOUND RISK FEATURES</a:t>
            </a:r>
            <a:endParaRPr lang="en-US" sz="26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A870C26-D65A-9645-8092-6D0958FF5EC8}"/>
              </a:ext>
            </a:extLst>
          </p:cNvPr>
          <p:cNvGrpSpPr/>
          <p:nvPr/>
        </p:nvGrpSpPr>
        <p:grpSpPr>
          <a:xfrm>
            <a:off x="320040" y="960120"/>
            <a:ext cx="4069080" cy="3520440"/>
            <a:chOff x="320040" y="960120"/>
            <a:chExt cx="4069080" cy="3520440"/>
          </a:xfrm>
        </p:grpSpPr>
        <p:sp>
          <p:nvSpPr>
            <p:cNvPr id="7" name="Shape 5"/>
            <p:cNvSpPr/>
            <p:nvPr/>
          </p:nvSpPr>
          <p:spPr>
            <a:xfrm>
              <a:off x="320040" y="960120"/>
              <a:ext cx="4069080" cy="3520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AF4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CH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C35EE14-FD2E-28AD-A74D-1BB928DBAC4F}"/>
                </a:ext>
              </a:extLst>
            </p:cNvPr>
            <p:cNvGrpSpPr/>
            <p:nvPr/>
          </p:nvGrpSpPr>
          <p:grpSpPr>
            <a:xfrm>
              <a:off x="320040" y="960120"/>
              <a:ext cx="4069080" cy="411480"/>
              <a:chOff x="320040" y="960120"/>
              <a:chExt cx="4069080" cy="411480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320040" y="960120"/>
                <a:ext cx="4069080" cy="411480"/>
              </a:xfrm>
              <a:prstGeom prst="rect">
                <a:avLst/>
              </a:prstGeom>
              <a:solidFill>
                <a:srgbClr val="028090"/>
              </a:solidFill>
              <a:ln w="12700">
                <a:solidFill>
                  <a:srgbClr val="028090"/>
                </a:solidFill>
                <a:prstDash val="solid"/>
              </a:ln>
            </p:spPr>
            <p:txBody>
              <a:bodyPr/>
              <a:lstStyle/>
              <a:p>
                <a:endParaRPr lang="en-CH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411480" y="960120"/>
                <a:ext cx="388620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kern="0" spc="150" dirty="0">
                    <a:solidFill>
                      <a:srgbClr val="FFFFFF"/>
                    </a:solidFill>
                    <a:latin typeface="Trebuchet MS" pitchFamily="34" charset="0"/>
                    <a:ea typeface="Trebuchet MS" pitchFamily="34" charset="-122"/>
                    <a:cs typeface="Trebuchet MS" pitchFamily="34" charset="-120"/>
                  </a:rPr>
                  <a:t>DYNAMIC FEATURES</a:t>
                </a:r>
                <a:endParaRPr lang="en-US" sz="1200" dirty="0"/>
              </a:p>
            </p:txBody>
          </p:sp>
        </p:grpSp>
        <p:sp>
          <p:nvSpPr>
            <p:cNvPr id="10" name="Text 8"/>
            <p:cNvSpPr/>
            <p:nvPr/>
          </p:nvSpPr>
          <p:spPr>
            <a:xfrm>
              <a:off x="457200" y="1463040"/>
              <a:ext cx="3794760" cy="2880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lvl="0" indent="-1714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CH" altLang="en-CH" b="1" dirty="0">
                  <a:latin typeface="Trebuchet MS" panose="020B0603020202020204" pitchFamily="34" charset="0"/>
                </a:rPr>
                <a:t>CHIRPS v3</a:t>
              </a:r>
              <a:r>
                <a:rPr lang="en-CH" altLang="en-CH" dirty="0">
                  <a:latin typeface="Trebuchet MS" panose="020B0603020202020204" pitchFamily="34" charset="0"/>
                </a:rPr>
                <a:t> → 3-day accumulated rainfall (R3)</a:t>
              </a:r>
            </a:p>
            <a:p>
              <a:pPr marL="171450" indent="-1714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CH" altLang="en-CH" b="1" dirty="0">
                  <a:latin typeface="Trebuchet MS" panose="020B0603020202020204" pitchFamily="34" charset="0"/>
                </a:rPr>
                <a:t>ERA5 Land</a:t>
              </a:r>
              <a:r>
                <a:rPr lang="en-CH" altLang="en-CH" dirty="0">
                  <a:latin typeface="Trebuchet MS" panose="020B0603020202020204" pitchFamily="34" charset="0"/>
                </a:rPr>
                <a:t> → 7-day mean topsoil moisture (SM7)</a:t>
              </a:r>
              <a:endParaRPr lang="en-US" altLang="en-CH" dirty="0">
                <a:latin typeface="Trebuchet MS" panose="020B0603020202020204" pitchFamily="34" charset="0"/>
              </a:endParaRPr>
            </a:p>
            <a:p>
              <a:pPr marL="171450" indent="-1714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1A2E3C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Rainfall × soil moisture interaction.</a:t>
              </a:r>
              <a:endParaRPr lang="en-US" dirty="0">
                <a:latin typeface="Trebuchet MS" panose="020B0603020202020204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0D62193-F9B3-1864-61D2-B93F062C64D6}"/>
              </a:ext>
            </a:extLst>
          </p:cNvPr>
          <p:cNvGrpSpPr/>
          <p:nvPr/>
        </p:nvGrpSpPr>
        <p:grpSpPr>
          <a:xfrm>
            <a:off x="4754880" y="960120"/>
            <a:ext cx="4069080" cy="3520440"/>
            <a:chOff x="4754880" y="960120"/>
            <a:chExt cx="4069080" cy="3520440"/>
          </a:xfrm>
        </p:grpSpPr>
        <p:sp>
          <p:nvSpPr>
            <p:cNvPr id="11" name="Shape 9"/>
            <p:cNvSpPr/>
            <p:nvPr/>
          </p:nvSpPr>
          <p:spPr>
            <a:xfrm>
              <a:off x="4754880" y="960120"/>
              <a:ext cx="4069080" cy="3520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AF4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CH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3E5CE6A-3FF9-9E22-A349-87BE3EF3098E}"/>
                </a:ext>
              </a:extLst>
            </p:cNvPr>
            <p:cNvGrpSpPr/>
            <p:nvPr/>
          </p:nvGrpSpPr>
          <p:grpSpPr>
            <a:xfrm>
              <a:off x="4754880" y="960120"/>
              <a:ext cx="4069080" cy="411480"/>
              <a:chOff x="4754880" y="960120"/>
              <a:chExt cx="4069080" cy="411480"/>
            </a:xfrm>
          </p:grpSpPr>
          <p:sp>
            <p:nvSpPr>
              <p:cNvPr id="12" name="Shape 10"/>
              <p:cNvSpPr/>
              <p:nvPr/>
            </p:nvSpPr>
            <p:spPr>
              <a:xfrm>
                <a:off x="4754880" y="960120"/>
                <a:ext cx="4069080" cy="411480"/>
              </a:xfrm>
              <a:prstGeom prst="rect">
                <a:avLst/>
              </a:prstGeom>
              <a:solidFill>
                <a:srgbClr val="0A2342"/>
              </a:solidFill>
              <a:ln w="12700">
                <a:solidFill>
                  <a:srgbClr val="0A2342"/>
                </a:solidFill>
                <a:prstDash val="solid"/>
              </a:ln>
            </p:spPr>
            <p:txBody>
              <a:bodyPr/>
              <a:lstStyle/>
              <a:p>
                <a:endParaRPr lang="en-CH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4846320" y="960120"/>
                <a:ext cx="388620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kern="0" spc="150" dirty="0">
                    <a:solidFill>
                      <a:srgbClr val="FFFFFF"/>
                    </a:solidFill>
                    <a:latin typeface="Trebuchet MS" pitchFamily="34" charset="0"/>
                    <a:ea typeface="Trebuchet MS" pitchFamily="34" charset="-122"/>
                    <a:cs typeface="Trebuchet MS" pitchFamily="34" charset="-120"/>
                  </a:rPr>
                  <a:t>STATIC FEATURES</a:t>
                </a:r>
                <a:endParaRPr lang="en-US" sz="1200" dirty="0"/>
              </a:p>
            </p:txBody>
          </p:sp>
        </p:grpSp>
        <p:sp>
          <p:nvSpPr>
            <p:cNvPr id="14" name="Text 12"/>
            <p:cNvSpPr/>
            <p:nvPr/>
          </p:nvSpPr>
          <p:spPr>
            <a:xfrm>
              <a:off x="4892040" y="1463040"/>
              <a:ext cx="3794760" cy="2880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lnSpc>
                  <a:spcPct val="150000"/>
                </a:lnSpc>
                <a:spcAft>
                  <a:spcPts val="1000"/>
                </a:spcAft>
                <a:buSzPct val="100000"/>
                <a:buChar char="•"/>
              </a:pPr>
              <a:r>
                <a:rPr lang="en-US" dirty="0">
                  <a:solidFill>
                    <a:srgbClr val="1A2E3C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SRTM slope at facility location (°)</a:t>
              </a:r>
            </a:p>
            <a:p>
              <a:pPr marL="342900" indent="-342900">
                <a:lnSpc>
                  <a:spcPct val="150000"/>
                </a:lnSpc>
                <a:spcAft>
                  <a:spcPts val="1000"/>
                </a:spcAft>
                <a:buSzPct val="100000"/>
                <a:buChar char="•"/>
              </a:pPr>
              <a:r>
                <a:rPr lang="en-US" dirty="0">
                  <a:solidFill>
                    <a:srgbClr val="1A2E3C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Facility Location: Lat / Long </a:t>
              </a:r>
              <a:endParaRPr lang="en-US" dirty="0">
                <a:latin typeface="Trebuchet MS" panose="020B0603020202020204" pitchFamily="34" charset="0"/>
              </a:endParaRPr>
            </a:p>
            <a:p>
              <a:pPr marL="342900" indent="-342900">
                <a:lnSpc>
                  <a:spcPct val="150000"/>
                </a:lnSpc>
                <a:spcAft>
                  <a:spcPts val="1000"/>
                </a:spcAft>
                <a:buSzPct val="100000"/>
                <a:buChar char="•"/>
              </a:pPr>
              <a:r>
                <a:rPr lang="en-US" dirty="0">
                  <a:solidFill>
                    <a:srgbClr val="1A2E3C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Facility type (hospital / clinic / dispensary)</a:t>
              </a:r>
              <a:endParaRPr lang="en-US" dirty="0">
                <a:latin typeface="Trebuchet MS" panose="020B0603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502920" y="1188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2 ·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SELECTION: CLASSIFICATION</a:t>
            </a:r>
            <a:endParaRPr lang="en-US" sz="2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136C8E5-FFF3-28F0-390C-1E75A8A6A387}"/>
              </a:ext>
            </a:extLst>
          </p:cNvPr>
          <p:cNvGrpSpPr/>
          <p:nvPr/>
        </p:nvGrpSpPr>
        <p:grpSpPr>
          <a:xfrm>
            <a:off x="7267290" y="-616784"/>
            <a:ext cx="2508221" cy="2431432"/>
            <a:chOff x="6660235" y="-757164"/>
            <a:chExt cx="3200400" cy="3200400"/>
          </a:xfrm>
        </p:grpSpPr>
        <p:sp>
          <p:nvSpPr>
            <p:cNvPr id="24" name="Shape 3">
              <a:extLst>
                <a:ext uri="{FF2B5EF4-FFF2-40B4-BE49-F238E27FC236}">
                  <a16:creationId xmlns:a16="http://schemas.microsoft.com/office/drawing/2014/main" id="{34D3250C-773B-D5BE-4EB9-1B9D55DE2511}"/>
                </a:ext>
              </a:extLst>
            </p:cNvPr>
            <p:cNvSpPr/>
            <p:nvPr/>
          </p:nvSpPr>
          <p:spPr>
            <a:xfrm>
              <a:off x="6660235" y="-757164"/>
              <a:ext cx="3200400" cy="3200400"/>
            </a:xfrm>
            <a:prstGeom prst="ellipse">
              <a:avLst/>
            </a:prstGeom>
            <a:solidFill>
              <a:srgbClr val="028090">
                <a:alpha val="20000"/>
              </a:srgbClr>
            </a:solidFill>
            <a:ln w="12700">
              <a:solidFill>
                <a:srgbClr val="028090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CH" dirty="0"/>
            </a:p>
          </p:txBody>
        </p:sp>
        <p:pic>
          <p:nvPicPr>
            <p:cNvPr id="25" name="Image 0" descr="preencoded.png">
              <a:extLst>
                <a:ext uri="{FF2B5EF4-FFF2-40B4-BE49-F238E27FC236}">
                  <a16:creationId xmlns:a16="http://schemas.microsoft.com/office/drawing/2014/main" id="{97A9537B-2A2F-F51B-A98C-C5F53BE45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52360" y="306218"/>
              <a:ext cx="1463040" cy="1463040"/>
            </a:xfrm>
            <a:prstGeom prst="rect">
              <a:avLst/>
            </a:prstGeom>
          </p:spPr>
        </p:pic>
      </p:grpSp>
      <p:pic>
        <p:nvPicPr>
          <p:cNvPr id="28" name="Picture 27" descr="The image depicts an alert classification tree, detailing various thresholds and categorizations for slope, percentiles, and other criteria.&#10;&#10;AI-generated content may be incorrect.">
            <a:extLst>
              <a:ext uri="{FF2B5EF4-FFF2-40B4-BE49-F238E27FC236}">
                <a16:creationId xmlns:a16="http://schemas.microsoft.com/office/drawing/2014/main" id="{703CC5BF-9AB1-5232-58A1-178DE6A82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520" y="1060802"/>
            <a:ext cx="7088614" cy="3606893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287D0DE0-8EAC-8EE4-2A95-276BF73689C9}"/>
              </a:ext>
            </a:extLst>
          </p:cNvPr>
          <p:cNvGrpSpPr/>
          <p:nvPr/>
        </p:nvGrpSpPr>
        <p:grpSpPr>
          <a:xfrm>
            <a:off x="-57171" y="0"/>
            <a:ext cx="2721684" cy="286421"/>
            <a:chOff x="341550" y="634702"/>
            <a:chExt cx="2721684" cy="286421"/>
          </a:xfrm>
        </p:grpSpPr>
        <p:sp>
          <p:nvSpPr>
            <p:cNvPr id="30" name="Shape 5">
              <a:extLst>
                <a:ext uri="{FF2B5EF4-FFF2-40B4-BE49-F238E27FC236}">
                  <a16:creationId xmlns:a16="http://schemas.microsoft.com/office/drawing/2014/main" id="{1C5768AD-C95A-0222-E295-0C9216CEBB2C}"/>
                </a:ext>
              </a:extLst>
            </p:cNvPr>
            <p:cNvSpPr/>
            <p:nvPr/>
          </p:nvSpPr>
          <p:spPr>
            <a:xfrm>
              <a:off x="406097" y="634702"/>
              <a:ext cx="2657137" cy="286421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31" name="Text 6">
              <a:extLst>
                <a:ext uri="{FF2B5EF4-FFF2-40B4-BE49-F238E27FC236}">
                  <a16:creationId xmlns:a16="http://schemas.microsoft.com/office/drawing/2014/main" id="{ED1B39E0-5582-E254-35FC-4E0C1B35BF00}"/>
                </a:ext>
              </a:extLst>
            </p:cNvPr>
            <p:cNvSpPr/>
            <p:nvPr/>
          </p:nvSpPr>
          <p:spPr>
            <a:xfrm>
              <a:off x="341550" y="650838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kern="0" spc="150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ARTIFICIAL INTELLIGENCE PROJECT (ARTIFIN)</a:t>
              </a:r>
              <a:endParaRPr lang="en-US" sz="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351003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EA198D-9789-F1F5-A8D6-2AB5C513E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F5FB5A-31A4-8D41-B4CE-3324895C924C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A7F8CC2-B265-B702-221A-85781ED3045B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9811ABD-2E80-CD57-BE11-69ADB6F23DE8}"/>
              </a:ext>
            </a:extLst>
          </p:cNvPr>
          <p:cNvSpPr/>
          <p:nvPr/>
        </p:nvSpPr>
        <p:spPr>
          <a:xfrm>
            <a:off x="502920" y="128016"/>
            <a:ext cx="2542032" cy="201168"/>
          </a:xfrm>
          <a:prstGeom prst="roundRect">
            <a:avLst>
              <a:gd name="adj" fmla="val 2272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E9C0504-E39E-754B-B1B9-8E2B3FC79458}"/>
              </a:ext>
            </a:extLst>
          </p:cNvPr>
          <p:cNvSpPr/>
          <p:nvPr/>
        </p:nvSpPr>
        <p:spPr>
          <a:xfrm>
            <a:off x="502920" y="11887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9A84E81-DFB7-5834-A804-A9BAA4E949D2}"/>
              </a:ext>
            </a:extLst>
          </p:cNvPr>
          <p:cNvSpPr/>
          <p:nvPr/>
        </p:nvSpPr>
        <p:spPr>
          <a:xfrm>
            <a:off x="31466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COMPOUND RISK FEATURES</a:t>
            </a:r>
            <a:endParaRPr lang="en-US" sz="26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ABE684C-0FB9-10E6-F226-9679A8B16332}"/>
              </a:ext>
            </a:extLst>
          </p:cNvPr>
          <p:cNvGrpSpPr/>
          <p:nvPr/>
        </p:nvGrpSpPr>
        <p:grpSpPr>
          <a:xfrm>
            <a:off x="2579466" y="960120"/>
            <a:ext cx="4069080" cy="3520440"/>
            <a:chOff x="320040" y="960120"/>
            <a:chExt cx="4069080" cy="3520440"/>
          </a:xfrm>
        </p:grpSpPr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7697B53D-D03E-6BBD-C748-C2A695BBE8B9}"/>
                </a:ext>
              </a:extLst>
            </p:cNvPr>
            <p:cNvSpPr/>
            <p:nvPr/>
          </p:nvSpPr>
          <p:spPr>
            <a:xfrm>
              <a:off x="320040" y="960120"/>
              <a:ext cx="4069080" cy="3520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AF4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CH" dirty="0"/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61B51BC3-685E-78F7-36D3-EC05C5040564}"/>
                </a:ext>
              </a:extLst>
            </p:cNvPr>
            <p:cNvSpPr/>
            <p:nvPr/>
          </p:nvSpPr>
          <p:spPr>
            <a:xfrm>
              <a:off x="320040" y="960120"/>
              <a:ext cx="4069080" cy="411480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6AA2A3C3-3A70-9D96-F30B-7EEAA26E2F9F}"/>
                </a:ext>
              </a:extLst>
            </p:cNvPr>
            <p:cNvSpPr/>
            <p:nvPr/>
          </p:nvSpPr>
          <p:spPr>
            <a:xfrm>
              <a:off x="411480" y="960120"/>
              <a:ext cx="38862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kern="0" spc="150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ALERT THRESHOLDS</a:t>
              </a:r>
              <a:endParaRPr lang="en-US" sz="12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454DBE41-D1A5-4D56-1095-B0617D26E2D1}"/>
                </a:ext>
              </a:extLst>
            </p:cNvPr>
            <p:cNvSpPr/>
            <p:nvPr/>
          </p:nvSpPr>
          <p:spPr>
            <a:xfrm>
              <a:off x="457200" y="1463040"/>
              <a:ext cx="3794760" cy="2880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lvl="0" indent="-1714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sz="2000" dirty="0">
                <a:latin typeface="Trebuchet MS" panose="020B0603020202020204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B2C631F-F9C1-6FB8-CC2B-B81F953D94F2}"/>
              </a:ext>
            </a:extLst>
          </p:cNvPr>
          <p:cNvSpPr txBox="1"/>
          <p:nvPr/>
        </p:nvSpPr>
        <p:spPr>
          <a:xfrm>
            <a:off x="2716626" y="1494919"/>
            <a:ext cx="38862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rebuchet MS" panose="020B0603020202020204" pitchFamily="34" charset="0"/>
              </a:rPr>
              <a:t>Rainfall Threshold</a:t>
            </a:r>
          </a:p>
          <a:p>
            <a:r>
              <a:rPr lang="en-US" b="1" dirty="0">
                <a:latin typeface="Trebuchet MS" panose="020B0603020202020204" pitchFamily="34" charset="0"/>
              </a:rPr>
              <a:t>Extreme Rain Event</a:t>
            </a:r>
            <a:endParaRPr lang="en-US" dirty="0">
              <a:latin typeface="Trebuchet MS" panose="020B0603020202020204" pitchFamily="34" charset="0"/>
            </a:endParaRPr>
          </a:p>
          <a:p>
            <a:pPr lvl="1"/>
            <a:r>
              <a:rPr lang="en-US" dirty="0">
                <a:latin typeface="Trebuchet MS" panose="020B0603020202020204" pitchFamily="34" charset="0"/>
              </a:rPr>
              <a:t>R3 ≥ 95th percentile (local baseline)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rebuchet MS" panose="020B0603020202020204" pitchFamily="34" charset="0"/>
              </a:rPr>
              <a:t>Soil Moisture Threshold</a:t>
            </a:r>
          </a:p>
          <a:p>
            <a:r>
              <a:rPr lang="en-US" b="1" dirty="0">
                <a:latin typeface="Trebuchet MS" panose="020B0603020202020204" pitchFamily="34" charset="0"/>
              </a:rPr>
              <a:t>Saturated Ground Condition</a:t>
            </a:r>
            <a:endParaRPr lang="en-US" dirty="0">
              <a:latin typeface="Trebuchet MS" panose="020B0603020202020204" pitchFamily="34" charset="0"/>
            </a:endParaRPr>
          </a:p>
          <a:p>
            <a:pPr lvl="1"/>
            <a:r>
              <a:rPr lang="en-US" dirty="0">
                <a:latin typeface="Trebuchet MS" panose="020B0603020202020204" pitchFamily="34" charset="0"/>
              </a:rPr>
              <a:t>SM7 ≥ 90th percentile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rebuchet MS" panose="020B0603020202020204" pitchFamily="34" charset="0"/>
              </a:rPr>
              <a:t>Terrain Conditioning</a:t>
            </a:r>
          </a:p>
          <a:p>
            <a:r>
              <a:rPr lang="en-US" b="1" dirty="0">
                <a:latin typeface="Trebuchet MS" panose="020B0603020202020204" pitchFamily="34" charset="0"/>
              </a:rPr>
              <a:t>Steep Terrain Flag</a:t>
            </a:r>
            <a:endParaRPr lang="en-US" dirty="0">
              <a:latin typeface="Trebuchet MS" panose="020B0603020202020204" pitchFamily="34" charset="0"/>
            </a:endParaRPr>
          </a:p>
          <a:p>
            <a:pPr lvl="1"/>
            <a:r>
              <a:rPr lang="en-US" dirty="0">
                <a:latin typeface="Trebuchet MS" panose="020B0603020202020204" pitchFamily="34" charset="0"/>
              </a:rPr>
              <a:t>Slope ≥ 15°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67F56B3-52EE-C910-3513-21920D3D260F}"/>
              </a:ext>
            </a:extLst>
          </p:cNvPr>
          <p:cNvGrpSpPr/>
          <p:nvPr/>
        </p:nvGrpSpPr>
        <p:grpSpPr>
          <a:xfrm>
            <a:off x="7267290" y="-616784"/>
            <a:ext cx="2508221" cy="2431432"/>
            <a:chOff x="6660235" y="-757164"/>
            <a:chExt cx="3200400" cy="3200400"/>
          </a:xfrm>
        </p:grpSpPr>
        <p:sp>
          <p:nvSpPr>
            <p:cNvPr id="19" name="Shape 3">
              <a:extLst>
                <a:ext uri="{FF2B5EF4-FFF2-40B4-BE49-F238E27FC236}">
                  <a16:creationId xmlns:a16="http://schemas.microsoft.com/office/drawing/2014/main" id="{D412B5B5-5F4C-2872-0081-2CD29EA5B9F6}"/>
                </a:ext>
              </a:extLst>
            </p:cNvPr>
            <p:cNvSpPr/>
            <p:nvPr/>
          </p:nvSpPr>
          <p:spPr>
            <a:xfrm>
              <a:off x="6660235" y="-757164"/>
              <a:ext cx="3200400" cy="3200400"/>
            </a:xfrm>
            <a:prstGeom prst="ellipse">
              <a:avLst/>
            </a:prstGeom>
            <a:solidFill>
              <a:srgbClr val="028090">
                <a:alpha val="20000"/>
              </a:srgbClr>
            </a:solidFill>
            <a:ln w="12700">
              <a:solidFill>
                <a:srgbClr val="028090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CH" dirty="0"/>
            </a:p>
          </p:txBody>
        </p:sp>
        <p:pic>
          <p:nvPicPr>
            <p:cNvPr id="20" name="Image 0" descr="preencoded.png">
              <a:extLst>
                <a:ext uri="{FF2B5EF4-FFF2-40B4-BE49-F238E27FC236}">
                  <a16:creationId xmlns:a16="http://schemas.microsoft.com/office/drawing/2014/main" id="{601EC5D6-EE73-276C-09FD-821C01706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52360" y="306218"/>
              <a:ext cx="1463040" cy="14630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9222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502920" y="128016"/>
            <a:ext cx="1883664" cy="201168"/>
          </a:xfrm>
          <a:prstGeom prst="roundRect">
            <a:avLst>
              <a:gd name="adj" fmla="val 2272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502920" y="118872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OUTPUT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ALERT SYSTEM WOULD LOOK LIKE: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105156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1005840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320040" y="1234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114300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CH" sz="1400" dirty="0"/>
              <a:t>Slope ≥ 15°</a:t>
            </a:r>
            <a:r>
              <a:rPr lang="en-US" sz="1400" dirty="0"/>
              <a:t> </a:t>
            </a:r>
            <a:r>
              <a:rPr lang="en-CH" sz="1400" dirty="0"/>
              <a:t>AND</a:t>
            </a:r>
            <a:r>
              <a:rPr lang="en-US" sz="1400" dirty="0"/>
              <a:t>  </a:t>
            </a:r>
            <a:r>
              <a:rPr lang="en-CH" sz="1400" dirty="0"/>
              <a:t>R3 ≥ 95th percentile</a:t>
            </a:r>
            <a:r>
              <a:rPr lang="en-US" sz="1400" dirty="0"/>
              <a:t> </a:t>
            </a:r>
            <a:r>
              <a:rPr lang="en-CH" sz="1400" dirty="0"/>
              <a:t>AND</a:t>
            </a:r>
            <a:r>
              <a:rPr lang="en-US" sz="1400" dirty="0"/>
              <a:t> </a:t>
            </a:r>
            <a:r>
              <a:rPr lang="en-CH" sz="1400" dirty="0"/>
              <a:t> SM7 ≥ 90th percentile</a:t>
            </a:r>
            <a:endParaRPr lang="en-US" sz="1400" dirty="0"/>
          </a:p>
          <a:p>
            <a:r>
              <a:rPr lang="en-US" sz="1050" dirty="0"/>
              <a:t>→ Very high surface runoff</a:t>
            </a:r>
            <a:br>
              <a:rPr lang="en-US" sz="1050" dirty="0"/>
            </a:br>
            <a:r>
              <a:rPr lang="en-US" sz="1050" dirty="0"/>
              <a:t>→ Flash flooding risk</a:t>
            </a:r>
            <a:br>
              <a:rPr lang="en-US" sz="1050" dirty="0"/>
            </a:br>
            <a:r>
              <a:rPr lang="en-US" sz="1050" dirty="0"/>
              <a:t>→ High probability of slope failure near facility</a:t>
            </a:r>
            <a:br>
              <a:rPr lang="en-US" sz="1050" dirty="0"/>
            </a:br>
            <a:r>
              <a:rPr lang="en-US" sz="1050" dirty="0"/>
              <a:t>→ Likely service disruption</a:t>
            </a:r>
            <a:endParaRPr lang="en-US" sz="1100" dirty="0">
              <a:solidFill>
                <a:srgbClr val="1A2E3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 required. Pre-position supplies, notify district health officer.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194560"/>
            <a:ext cx="8503920" cy="1051560"/>
          </a:xfrm>
          <a:prstGeom prst="rect">
            <a:avLst/>
          </a:prstGeom>
          <a:solidFill>
            <a:srgbClr val="FEF3E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320040" y="2194560"/>
            <a:ext cx="1005840" cy="1051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320040" y="24688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35139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R3 ≥ 95th percentile AND SM7 ≥ 90th percentile</a:t>
            </a:r>
          </a:p>
          <a:p>
            <a:r>
              <a:rPr lang="en-US" sz="900" dirty="0"/>
              <a:t>Slope ≥ 15° AND R3 ≥ 95th percentile</a:t>
            </a:r>
          </a:p>
          <a:p>
            <a:r>
              <a:rPr lang="en-US" sz="900" dirty="0"/>
              <a:t>→ High runoff generation</a:t>
            </a:r>
            <a:br>
              <a:rPr lang="en-US" sz="900" dirty="0"/>
            </a:br>
            <a:r>
              <a:rPr lang="en-US" sz="900" dirty="0"/>
              <a:t>→ Possible road inaccessibility</a:t>
            </a:r>
            <a:br>
              <a:rPr lang="en-US" sz="900" dirty="0"/>
            </a:br>
            <a:r>
              <a:rPr lang="en-US" sz="900" dirty="0"/>
              <a:t>→ Increased landslide susceptibility in steep areas</a:t>
            </a:r>
          </a:p>
          <a:p>
            <a:pPr marL="0" indent="0">
              <a:buNone/>
            </a:pPr>
            <a:endParaRPr lang="en-US" sz="900" dirty="0">
              <a:solidFill>
                <a:srgbClr val="1A2E3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closely. Prepare contingency plan and verify road access status.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3429000"/>
            <a:ext cx="8503920" cy="1051560"/>
          </a:xfrm>
          <a:prstGeom prst="rect">
            <a:avLst/>
          </a:prstGeom>
          <a:solidFill>
            <a:srgbClr val="E9F7E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Shape 14"/>
          <p:cNvSpPr/>
          <p:nvPr/>
        </p:nvSpPr>
        <p:spPr>
          <a:xfrm>
            <a:off x="320040" y="3429000"/>
            <a:ext cx="1005840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320040" y="3703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36118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R3 &lt; 95th percentile</a:t>
            </a:r>
          </a:p>
          <a:p>
            <a:r>
              <a:rPr lang="en-US" sz="1050" dirty="0"/>
              <a:t>SM7 &lt; 90th percentile</a:t>
            </a:r>
          </a:p>
          <a:p>
            <a:r>
              <a:rPr lang="en-US" sz="1050" dirty="0"/>
              <a:t>→ Low runoff efficiency</a:t>
            </a:r>
            <a:br>
              <a:rPr lang="en-US" sz="1050" dirty="0"/>
            </a:br>
            <a:r>
              <a:rPr lang="en-US" sz="1050" dirty="0"/>
              <a:t>→ Minimal facility access disruption risk</a:t>
            </a:r>
          </a:p>
          <a:p>
            <a:pPr marL="0" indent="0">
              <a:buNone/>
            </a:pPr>
            <a:endParaRPr lang="en-US" sz="1050" dirty="0">
              <a:solidFill>
                <a:srgbClr val="1A2E3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operations. Continue routine monitoring via dashboard.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21140" cy="288036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240030" y="41148"/>
            <a:ext cx="1440180" cy="19202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240030" y="41148"/>
            <a:ext cx="14401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FFFFFF"/>
                </a:solidFill>
              </a:rPr>
              <a:t>ARTIFIN PRESENTATION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240030" y="329184"/>
            <a:ext cx="6172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5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INITIAL ROADMAP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0" y="4903470"/>
            <a:ext cx="9121140" cy="24003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240030" y="994410"/>
            <a:ext cx="1508760" cy="174879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H" sz="2400"/>
          </a:p>
        </p:txBody>
      </p:sp>
      <p:sp>
        <p:nvSpPr>
          <p:cNvPr id="9" name="Shape 7"/>
          <p:cNvSpPr/>
          <p:nvPr/>
        </p:nvSpPr>
        <p:spPr>
          <a:xfrm>
            <a:off x="240030" y="994410"/>
            <a:ext cx="1508760" cy="4800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097280"/>
            <a:ext cx="260604" cy="2606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2326" y="1440180"/>
            <a:ext cx="1344168" cy="377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63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863" dirty="0"/>
          </a:p>
        </p:txBody>
      </p:sp>
      <p:sp>
        <p:nvSpPr>
          <p:cNvPr id="12" name="Text 9"/>
          <p:cNvSpPr/>
          <p:nvPr/>
        </p:nvSpPr>
        <p:spPr>
          <a:xfrm>
            <a:off x="322326" y="1851660"/>
            <a:ext cx="1344168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examination of data suitability and availability. 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789938" y="994410"/>
            <a:ext cx="1508760" cy="174878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4" name="Shape 11"/>
          <p:cNvSpPr/>
          <p:nvPr/>
        </p:nvSpPr>
        <p:spPr>
          <a:xfrm>
            <a:off x="1872234" y="994410"/>
            <a:ext cx="1508760" cy="4800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2"/>
          <p:cNvSpPr/>
          <p:nvPr/>
        </p:nvSpPr>
        <p:spPr>
          <a:xfrm>
            <a:off x="3092958" y="1076706"/>
            <a:ext cx="240030" cy="24003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Text 13"/>
          <p:cNvSpPr/>
          <p:nvPr/>
        </p:nvSpPr>
        <p:spPr>
          <a:xfrm>
            <a:off x="3092958" y="1076706"/>
            <a:ext cx="2400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</a:rPr>
              <a:t>2</a:t>
            </a:r>
            <a:endParaRPr lang="en-US" sz="825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104" y="1097280"/>
            <a:ext cx="260604" cy="26060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954530" y="1440180"/>
            <a:ext cx="1344168" cy="377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63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863" dirty="0"/>
          </a:p>
        </p:txBody>
      </p:sp>
      <p:sp>
        <p:nvSpPr>
          <p:cNvPr id="19" name="Text 15"/>
          <p:cNvSpPr/>
          <p:nvPr/>
        </p:nvSpPr>
        <p:spPr>
          <a:xfrm>
            <a:off x="1954530" y="1851660"/>
            <a:ext cx="1344168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raw data into meaningful features. Normalize, encode, and select variables.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504438" y="994410"/>
            <a:ext cx="1508760" cy="174878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1" name="Shape 17"/>
          <p:cNvSpPr/>
          <p:nvPr/>
        </p:nvSpPr>
        <p:spPr>
          <a:xfrm>
            <a:off x="3504438" y="994410"/>
            <a:ext cx="1508760" cy="4800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18"/>
          <p:cNvSpPr/>
          <p:nvPr/>
        </p:nvSpPr>
        <p:spPr>
          <a:xfrm>
            <a:off x="4725162" y="1076706"/>
            <a:ext cx="240030" cy="24003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19"/>
          <p:cNvSpPr/>
          <p:nvPr/>
        </p:nvSpPr>
        <p:spPr>
          <a:xfrm>
            <a:off x="4725162" y="1076706"/>
            <a:ext cx="2400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</a:rPr>
              <a:t>3</a:t>
            </a:r>
            <a:endParaRPr lang="en-US" sz="825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7308" y="1097280"/>
            <a:ext cx="260604" cy="26060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586734" y="1440180"/>
            <a:ext cx="1344168" cy="377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63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863" dirty="0"/>
          </a:p>
        </p:txBody>
      </p:sp>
      <p:sp>
        <p:nvSpPr>
          <p:cNvPr id="26" name="Text 21"/>
          <p:cNvSpPr/>
          <p:nvPr/>
        </p:nvSpPr>
        <p:spPr>
          <a:xfrm>
            <a:off x="3586734" y="1851660"/>
            <a:ext cx="1344168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 on historical data, log experiments, tune hyperparameters.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136642" y="994410"/>
            <a:ext cx="1508760" cy="174879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8" name="Shape 23"/>
          <p:cNvSpPr/>
          <p:nvPr/>
        </p:nvSpPr>
        <p:spPr>
          <a:xfrm>
            <a:off x="5136642" y="994410"/>
            <a:ext cx="1508760" cy="4800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Shape 24"/>
          <p:cNvSpPr/>
          <p:nvPr/>
        </p:nvSpPr>
        <p:spPr>
          <a:xfrm>
            <a:off x="6357366" y="1076706"/>
            <a:ext cx="240030" cy="24003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5"/>
          <p:cNvSpPr/>
          <p:nvPr/>
        </p:nvSpPr>
        <p:spPr>
          <a:xfrm>
            <a:off x="6357366" y="1076706"/>
            <a:ext cx="2400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</a:rPr>
              <a:t>4</a:t>
            </a:r>
            <a:endParaRPr lang="en-US" sz="825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9512" y="1097280"/>
            <a:ext cx="260604" cy="26060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218938" y="1440180"/>
            <a:ext cx="1344168" cy="377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63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63" dirty="0"/>
          </a:p>
        </p:txBody>
      </p:sp>
      <p:sp>
        <p:nvSpPr>
          <p:cNvPr id="33" name="Text 27"/>
          <p:cNvSpPr/>
          <p:nvPr/>
        </p:nvSpPr>
        <p:spPr>
          <a:xfrm>
            <a:off x="5218938" y="1851660"/>
            <a:ext cx="1344168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and deploy model to production environment with monitoring.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768846" y="994410"/>
            <a:ext cx="1508760" cy="17487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5" name="Shape 29"/>
          <p:cNvSpPr/>
          <p:nvPr/>
        </p:nvSpPr>
        <p:spPr>
          <a:xfrm>
            <a:off x="6768846" y="994410"/>
            <a:ext cx="1508760" cy="4800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6" name="Shape 30"/>
          <p:cNvSpPr/>
          <p:nvPr/>
        </p:nvSpPr>
        <p:spPr>
          <a:xfrm>
            <a:off x="7989570" y="1076706"/>
            <a:ext cx="240030" cy="24003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7" name="Text 31"/>
          <p:cNvSpPr/>
          <p:nvPr/>
        </p:nvSpPr>
        <p:spPr>
          <a:xfrm>
            <a:off x="7989570" y="1076706"/>
            <a:ext cx="2400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</a:rPr>
              <a:t>5</a:t>
            </a:r>
            <a:endParaRPr lang="en-US" sz="825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1716" y="1097280"/>
            <a:ext cx="260604" cy="26060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851142" y="1440180"/>
            <a:ext cx="1344168" cy="377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63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863" dirty="0"/>
          </a:p>
        </p:txBody>
      </p:sp>
      <p:sp>
        <p:nvSpPr>
          <p:cNvPr id="40" name="Text 33"/>
          <p:cNvSpPr/>
          <p:nvPr/>
        </p:nvSpPr>
        <p:spPr>
          <a:xfrm>
            <a:off x="6851142" y="1851660"/>
            <a:ext cx="1344168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testing, integration, and delivery pipelines for continuous updates.</a:t>
            </a:r>
            <a:endParaRPr lang="en-US" sz="10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2FC3A37-A9CE-C9A4-9FA8-68FEBBDDBCF0}"/>
              </a:ext>
            </a:extLst>
          </p:cNvPr>
          <p:cNvGrpSpPr/>
          <p:nvPr/>
        </p:nvGrpSpPr>
        <p:grpSpPr>
          <a:xfrm>
            <a:off x="6943542" y="2978278"/>
            <a:ext cx="2508221" cy="2431432"/>
            <a:chOff x="6660235" y="-757164"/>
            <a:chExt cx="3200400" cy="3200400"/>
          </a:xfrm>
        </p:grpSpPr>
        <p:sp>
          <p:nvSpPr>
            <p:cNvPr id="42" name="Shape 3">
              <a:extLst>
                <a:ext uri="{FF2B5EF4-FFF2-40B4-BE49-F238E27FC236}">
                  <a16:creationId xmlns:a16="http://schemas.microsoft.com/office/drawing/2014/main" id="{A1591517-BA30-6151-E157-874BDBFC987E}"/>
                </a:ext>
              </a:extLst>
            </p:cNvPr>
            <p:cNvSpPr/>
            <p:nvPr/>
          </p:nvSpPr>
          <p:spPr>
            <a:xfrm>
              <a:off x="6660235" y="-757164"/>
              <a:ext cx="3200400" cy="3200400"/>
            </a:xfrm>
            <a:prstGeom prst="ellipse">
              <a:avLst/>
            </a:prstGeom>
            <a:solidFill>
              <a:srgbClr val="028090">
                <a:alpha val="20000"/>
              </a:srgbClr>
            </a:solidFill>
            <a:ln w="12700">
              <a:solidFill>
                <a:srgbClr val="028090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CH" dirty="0"/>
            </a:p>
          </p:txBody>
        </p:sp>
        <p:pic>
          <p:nvPicPr>
            <p:cNvPr id="43" name="Image 0" descr="preencoded.png">
              <a:extLst>
                <a:ext uri="{FF2B5EF4-FFF2-40B4-BE49-F238E27FC236}">
                  <a16:creationId xmlns:a16="http://schemas.microsoft.com/office/drawing/2014/main" id="{33CC55A9-E7EF-CE69-E8CB-D97DA554F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52360" y="306218"/>
              <a:ext cx="1463040" cy="1463040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69B59A1-291D-575B-2FFE-7F63862A060D}"/>
              </a:ext>
            </a:extLst>
          </p:cNvPr>
          <p:cNvGrpSpPr/>
          <p:nvPr/>
        </p:nvGrpSpPr>
        <p:grpSpPr>
          <a:xfrm>
            <a:off x="-476499" y="2977353"/>
            <a:ext cx="2508221" cy="2431432"/>
            <a:chOff x="6660235" y="-757164"/>
            <a:chExt cx="3200400" cy="3200400"/>
          </a:xfrm>
        </p:grpSpPr>
        <p:sp>
          <p:nvSpPr>
            <p:cNvPr id="45" name="Shape 3">
              <a:extLst>
                <a:ext uri="{FF2B5EF4-FFF2-40B4-BE49-F238E27FC236}">
                  <a16:creationId xmlns:a16="http://schemas.microsoft.com/office/drawing/2014/main" id="{E953F01A-925D-A8BC-856A-EBDA421F7C29}"/>
                </a:ext>
              </a:extLst>
            </p:cNvPr>
            <p:cNvSpPr/>
            <p:nvPr/>
          </p:nvSpPr>
          <p:spPr>
            <a:xfrm>
              <a:off x="6660235" y="-757164"/>
              <a:ext cx="3200400" cy="3200400"/>
            </a:xfrm>
            <a:prstGeom prst="ellipse">
              <a:avLst/>
            </a:prstGeom>
            <a:solidFill>
              <a:srgbClr val="028090">
                <a:alpha val="20000"/>
              </a:srgbClr>
            </a:solidFill>
            <a:ln w="12700">
              <a:solidFill>
                <a:srgbClr val="028090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CH" dirty="0"/>
            </a:p>
          </p:txBody>
        </p:sp>
        <p:pic>
          <p:nvPicPr>
            <p:cNvPr id="46" name="Image 0" descr="preencoded.png">
              <a:extLst>
                <a:ext uri="{FF2B5EF4-FFF2-40B4-BE49-F238E27FC236}">
                  <a16:creationId xmlns:a16="http://schemas.microsoft.com/office/drawing/2014/main" id="{616FD58E-E868-9C7D-3461-B81887504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52360" y="306218"/>
              <a:ext cx="1463040" cy="146304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0AD52EE-8B06-2FFA-474B-F66E1EC6B4A7}"/>
              </a:ext>
            </a:extLst>
          </p:cNvPr>
          <p:cNvGrpSpPr/>
          <p:nvPr/>
        </p:nvGrpSpPr>
        <p:grpSpPr>
          <a:xfrm>
            <a:off x="3092958" y="2982667"/>
            <a:ext cx="2508221" cy="2431432"/>
            <a:chOff x="6660235" y="-757164"/>
            <a:chExt cx="3200400" cy="3200400"/>
          </a:xfrm>
        </p:grpSpPr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B256899E-93C1-4E1E-D8B5-760F4AC6D8DC}"/>
                </a:ext>
              </a:extLst>
            </p:cNvPr>
            <p:cNvSpPr/>
            <p:nvPr/>
          </p:nvSpPr>
          <p:spPr>
            <a:xfrm>
              <a:off x="6660235" y="-757164"/>
              <a:ext cx="3200400" cy="3200400"/>
            </a:xfrm>
            <a:prstGeom prst="ellipse">
              <a:avLst/>
            </a:prstGeom>
            <a:solidFill>
              <a:srgbClr val="028090">
                <a:alpha val="20000"/>
              </a:srgbClr>
            </a:solidFill>
            <a:ln w="12700">
              <a:solidFill>
                <a:srgbClr val="028090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CH" dirty="0"/>
            </a:p>
          </p:txBody>
        </p:sp>
        <p:pic>
          <p:nvPicPr>
            <p:cNvPr id="49" name="Image 0" descr="preencoded.png">
              <a:extLst>
                <a:ext uri="{FF2B5EF4-FFF2-40B4-BE49-F238E27FC236}">
                  <a16:creationId xmlns:a16="http://schemas.microsoft.com/office/drawing/2014/main" id="{C698788A-A5C0-A43C-BB94-A4B8B8A48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52360" y="306218"/>
              <a:ext cx="1463040" cy="14630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5557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21140" cy="288036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240030" y="41148"/>
            <a:ext cx="1440180" cy="19202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240030" y="41148"/>
            <a:ext cx="14401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FFFFFF"/>
                </a:solidFill>
              </a:rPr>
              <a:t>ARTIFIN PRESENTATION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240030" y="329184"/>
            <a:ext cx="6172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C4A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MLOps NECESSARY?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40030" y="754380"/>
            <a:ext cx="6172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25" i="1" dirty="0">
                <a:solidFill>
                  <a:srgbClr val="4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the case for MLOps in weather-based risk prediction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0" y="4903470"/>
            <a:ext cx="9121140" cy="24003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240030" y="1062990"/>
            <a:ext cx="2674620" cy="1083564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240030" y="1062990"/>
            <a:ext cx="48006" cy="10835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363474" y="1213866"/>
            <a:ext cx="356616" cy="356616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" y="1282446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2386" y="11521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352294" y="1179576"/>
            <a:ext cx="493776" cy="1783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Text 11"/>
          <p:cNvSpPr/>
          <p:nvPr/>
        </p:nvSpPr>
        <p:spPr>
          <a:xfrm>
            <a:off x="2352294" y="1179576"/>
            <a:ext cx="49377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802386" y="1426464"/>
            <a:ext cx="200253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13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geographic weather patterns</a:t>
            </a:r>
            <a:endParaRPr lang="en-US" sz="713" dirty="0"/>
          </a:p>
        </p:txBody>
      </p:sp>
      <p:sp>
        <p:nvSpPr>
          <p:cNvPr id="16" name="Shape 13"/>
          <p:cNvSpPr/>
          <p:nvPr/>
        </p:nvSpPr>
        <p:spPr>
          <a:xfrm>
            <a:off x="3086100" y="1062990"/>
            <a:ext cx="2674620" cy="1083564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7" name="Shape 14"/>
          <p:cNvSpPr/>
          <p:nvPr/>
        </p:nvSpPr>
        <p:spPr>
          <a:xfrm>
            <a:off x="3086100" y="1062990"/>
            <a:ext cx="48006" cy="10835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Shape 15"/>
          <p:cNvSpPr/>
          <p:nvPr/>
        </p:nvSpPr>
        <p:spPr>
          <a:xfrm>
            <a:off x="3209544" y="1213866"/>
            <a:ext cx="356616" cy="356616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124" y="1282446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48456" y="11521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PATTERNS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198364" y="1179576"/>
            <a:ext cx="493776" cy="1783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18"/>
          <p:cNvSpPr/>
          <p:nvPr/>
        </p:nvSpPr>
        <p:spPr>
          <a:xfrm>
            <a:off x="5198364" y="1179576"/>
            <a:ext cx="49377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75" dirty="0"/>
          </a:p>
        </p:txBody>
      </p:sp>
      <p:sp>
        <p:nvSpPr>
          <p:cNvPr id="23" name="Text 19"/>
          <p:cNvSpPr/>
          <p:nvPr/>
        </p:nvSpPr>
        <p:spPr>
          <a:xfrm>
            <a:off x="3648456" y="1426464"/>
            <a:ext cx="200253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13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impacts has baselines values but follow patterns that change. </a:t>
            </a:r>
            <a:endParaRPr lang="en-US" sz="713" dirty="0"/>
          </a:p>
        </p:txBody>
      </p:sp>
      <p:sp>
        <p:nvSpPr>
          <p:cNvPr id="24" name="Shape 20"/>
          <p:cNvSpPr/>
          <p:nvPr/>
        </p:nvSpPr>
        <p:spPr>
          <a:xfrm>
            <a:off x="5932170" y="1062990"/>
            <a:ext cx="2674620" cy="1083564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5" name="Shape 21"/>
          <p:cNvSpPr/>
          <p:nvPr/>
        </p:nvSpPr>
        <p:spPr>
          <a:xfrm>
            <a:off x="5932170" y="1062990"/>
            <a:ext cx="48006" cy="10835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Shape 22"/>
          <p:cNvSpPr/>
          <p:nvPr/>
        </p:nvSpPr>
        <p:spPr>
          <a:xfrm>
            <a:off x="6055614" y="1213866"/>
            <a:ext cx="356616" cy="356616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4194" y="128244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94526" y="11521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DATA</a:t>
            </a:r>
            <a:endParaRPr lang="en-US" sz="750" dirty="0"/>
          </a:p>
        </p:txBody>
      </p:sp>
      <p:sp>
        <p:nvSpPr>
          <p:cNvPr id="29" name="Shape 24"/>
          <p:cNvSpPr/>
          <p:nvPr/>
        </p:nvSpPr>
        <p:spPr>
          <a:xfrm>
            <a:off x="8044434" y="1179576"/>
            <a:ext cx="493776" cy="1783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5"/>
          <p:cNvSpPr/>
          <p:nvPr/>
        </p:nvSpPr>
        <p:spPr>
          <a:xfrm>
            <a:off x="8044434" y="1179576"/>
            <a:ext cx="49377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75" dirty="0"/>
          </a:p>
        </p:txBody>
      </p:sp>
      <p:sp>
        <p:nvSpPr>
          <p:cNvPr id="31" name="Text 26"/>
          <p:cNvSpPr/>
          <p:nvPr/>
        </p:nvSpPr>
        <p:spPr>
          <a:xfrm>
            <a:off x="6494526" y="1426464"/>
            <a:ext cx="200253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13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weather records available for training</a:t>
            </a:r>
            <a:endParaRPr lang="en-US" sz="713" dirty="0"/>
          </a:p>
        </p:txBody>
      </p:sp>
      <p:sp>
        <p:nvSpPr>
          <p:cNvPr id="32" name="Shape 27"/>
          <p:cNvSpPr/>
          <p:nvPr/>
        </p:nvSpPr>
        <p:spPr>
          <a:xfrm>
            <a:off x="240030" y="2269998"/>
            <a:ext cx="2674620" cy="1083564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3" name="Shape 28"/>
          <p:cNvSpPr/>
          <p:nvPr/>
        </p:nvSpPr>
        <p:spPr>
          <a:xfrm>
            <a:off x="240030" y="2269998"/>
            <a:ext cx="48006" cy="10835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Shape 29"/>
          <p:cNvSpPr/>
          <p:nvPr/>
        </p:nvSpPr>
        <p:spPr>
          <a:xfrm>
            <a:off x="363474" y="2420874"/>
            <a:ext cx="356616" cy="356616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" y="2489454"/>
            <a:ext cx="219456" cy="21945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02386" y="2359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750" dirty="0"/>
          </a:p>
        </p:txBody>
      </p:sp>
      <p:sp>
        <p:nvSpPr>
          <p:cNvPr id="37" name="Shape 31"/>
          <p:cNvSpPr/>
          <p:nvPr/>
        </p:nvSpPr>
        <p:spPr>
          <a:xfrm>
            <a:off x="2352294" y="2386584"/>
            <a:ext cx="493776" cy="1783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2"/>
          <p:cNvSpPr/>
          <p:nvPr/>
        </p:nvSpPr>
        <p:spPr>
          <a:xfrm>
            <a:off x="2352294" y="2386584"/>
            <a:ext cx="49377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75" dirty="0"/>
          </a:p>
        </p:txBody>
      </p:sp>
      <p:sp>
        <p:nvSpPr>
          <p:cNvPr id="39" name="Text 33"/>
          <p:cNvSpPr/>
          <p:nvPr/>
        </p:nvSpPr>
        <p:spPr>
          <a:xfrm>
            <a:off x="802386" y="2633472"/>
            <a:ext cx="200253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13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(X1, X2) = Risk Alert (High, Medium, Low)</a:t>
            </a:r>
            <a:endParaRPr lang="en-US" sz="713" dirty="0"/>
          </a:p>
        </p:txBody>
      </p:sp>
      <p:sp>
        <p:nvSpPr>
          <p:cNvPr id="40" name="Shape 34"/>
          <p:cNvSpPr/>
          <p:nvPr/>
        </p:nvSpPr>
        <p:spPr>
          <a:xfrm>
            <a:off x="3086100" y="2269998"/>
            <a:ext cx="2674620" cy="1083564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41" name="Shape 35"/>
          <p:cNvSpPr/>
          <p:nvPr/>
        </p:nvSpPr>
        <p:spPr>
          <a:xfrm>
            <a:off x="3086100" y="2269998"/>
            <a:ext cx="48006" cy="10835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2" name="Shape 36"/>
          <p:cNvSpPr/>
          <p:nvPr/>
        </p:nvSpPr>
        <p:spPr>
          <a:xfrm>
            <a:off x="3209544" y="2420874"/>
            <a:ext cx="356616" cy="356616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8124" y="2489454"/>
            <a:ext cx="219456" cy="219456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3648456" y="2359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DATA</a:t>
            </a:r>
            <a:endParaRPr lang="en-US" sz="750" dirty="0"/>
          </a:p>
        </p:txBody>
      </p:sp>
      <p:sp>
        <p:nvSpPr>
          <p:cNvPr id="45" name="Shape 38"/>
          <p:cNvSpPr/>
          <p:nvPr/>
        </p:nvSpPr>
        <p:spPr>
          <a:xfrm>
            <a:off x="5198364" y="2386584"/>
            <a:ext cx="493776" cy="1783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6" name="Text 39"/>
          <p:cNvSpPr/>
          <p:nvPr/>
        </p:nvSpPr>
        <p:spPr>
          <a:xfrm>
            <a:off x="5198364" y="2386584"/>
            <a:ext cx="49377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75" dirty="0"/>
          </a:p>
        </p:txBody>
      </p:sp>
      <p:sp>
        <p:nvSpPr>
          <p:cNvPr id="47" name="Text 40"/>
          <p:cNvSpPr/>
          <p:nvPr/>
        </p:nvSpPr>
        <p:spPr>
          <a:xfrm>
            <a:off x="3648456" y="2633472"/>
            <a:ext cx="200253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13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based on historic data</a:t>
            </a:r>
            <a:endParaRPr lang="en-US" sz="713" dirty="0"/>
          </a:p>
        </p:txBody>
      </p:sp>
      <p:sp>
        <p:nvSpPr>
          <p:cNvPr id="48" name="Shape 41"/>
          <p:cNvSpPr/>
          <p:nvPr/>
        </p:nvSpPr>
        <p:spPr>
          <a:xfrm>
            <a:off x="5932170" y="2269998"/>
            <a:ext cx="2674620" cy="1083564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49" name="Shape 42"/>
          <p:cNvSpPr/>
          <p:nvPr/>
        </p:nvSpPr>
        <p:spPr>
          <a:xfrm>
            <a:off x="5932170" y="2269998"/>
            <a:ext cx="48006" cy="10835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0" name="Shape 43"/>
          <p:cNvSpPr/>
          <p:nvPr/>
        </p:nvSpPr>
        <p:spPr>
          <a:xfrm>
            <a:off x="6055614" y="2420874"/>
            <a:ext cx="356616" cy="356616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4194" y="2489454"/>
            <a:ext cx="219456" cy="219456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6494526" y="2359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</a:t>
            </a:r>
            <a:endParaRPr lang="en-US" sz="750" dirty="0"/>
          </a:p>
        </p:txBody>
      </p:sp>
      <p:sp>
        <p:nvSpPr>
          <p:cNvPr id="53" name="Shape 45"/>
          <p:cNvSpPr/>
          <p:nvPr/>
        </p:nvSpPr>
        <p:spPr>
          <a:xfrm>
            <a:off x="8044434" y="2386584"/>
            <a:ext cx="493776" cy="1783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4" name="Text 46"/>
          <p:cNvSpPr/>
          <p:nvPr/>
        </p:nvSpPr>
        <p:spPr>
          <a:xfrm>
            <a:off x="8044434" y="2386584"/>
            <a:ext cx="49377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75" dirty="0"/>
          </a:p>
        </p:txBody>
      </p:sp>
      <p:sp>
        <p:nvSpPr>
          <p:cNvPr id="55" name="Text 47"/>
          <p:cNvSpPr/>
          <p:nvPr/>
        </p:nvSpPr>
        <p:spPr>
          <a:xfrm>
            <a:off x="6494526" y="2633472"/>
            <a:ext cx="200253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13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predictions run on a recurring schedule</a:t>
            </a:r>
            <a:endParaRPr lang="en-US" sz="713" dirty="0"/>
          </a:p>
        </p:txBody>
      </p:sp>
      <p:sp>
        <p:nvSpPr>
          <p:cNvPr id="56" name="Shape 48"/>
          <p:cNvSpPr/>
          <p:nvPr/>
        </p:nvSpPr>
        <p:spPr>
          <a:xfrm>
            <a:off x="240030" y="3477006"/>
            <a:ext cx="2674620" cy="1083564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57" name="Shape 49"/>
          <p:cNvSpPr/>
          <p:nvPr/>
        </p:nvSpPr>
        <p:spPr>
          <a:xfrm>
            <a:off x="240030" y="3477006"/>
            <a:ext cx="48006" cy="10835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8" name="Shape 50"/>
          <p:cNvSpPr/>
          <p:nvPr/>
        </p:nvSpPr>
        <p:spPr>
          <a:xfrm>
            <a:off x="363474" y="3627882"/>
            <a:ext cx="356616" cy="356616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2054" y="3696462"/>
            <a:ext cx="219456" cy="219456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802386" y="35661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PREDICTION</a:t>
            </a:r>
            <a:endParaRPr lang="en-US" sz="750" dirty="0"/>
          </a:p>
        </p:txBody>
      </p:sp>
      <p:sp>
        <p:nvSpPr>
          <p:cNvPr id="61" name="Shape 52"/>
          <p:cNvSpPr/>
          <p:nvPr/>
        </p:nvSpPr>
        <p:spPr>
          <a:xfrm>
            <a:off x="2352294" y="3593592"/>
            <a:ext cx="493776" cy="1783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2" name="Text 53"/>
          <p:cNvSpPr/>
          <p:nvPr/>
        </p:nvSpPr>
        <p:spPr>
          <a:xfrm>
            <a:off x="2352294" y="3593592"/>
            <a:ext cx="49377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</a:t>
            </a:r>
            <a:endParaRPr lang="en-US" sz="675" dirty="0"/>
          </a:p>
        </p:txBody>
      </p:sp>
      <p:sp>
        <p:nvSpPr>
          <p:cNvPr id="63" name="Text 54"/>
          <p:cNvSpPr/>
          <p:nvPr/>
        </p:nvSpPr>
        <p:spPr>
          <a:xfrm>
            <a:off x="802386" y="3840480"/>
            <a:ext cx="200253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13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by infrastructure and compute requirements</a:t>
            </a:r>
            <a:endParaRPr lang="en-US" sz="713" dirty="0"/>
          </a:p>
        </p:txBody>
      </p:sp>
      <p:sp>
        <p:nvSpPr>
          <p:cNvPr id="64" name="Shape 55"/>
          <p:cNvSpPr/>
          <p:nvPr/>
        </p:nvSpPr>
        <p:spPr>
          <a:xfrm>
            <a:off x="3086100" y="3477006"/>
            <a:ext cx="2674620" cy="1083564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5" name="Shape 56"/>
          <p:cNvSpPr/>
          <p:nvPr/>
        </p:nvSpPr>
        <p:spPr>
          <a:xfrm>
            <a:off x="3086100" y="3477006"/>
            <a:ext cx="48006" cy="10835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6" name="Shape 57"/>
          <p:cNvSpPr/>
          <p:nvPr/>
        </p:nvSpPr>
        <p:spPr>
          <a:xfrm>
            <a:off x="3209544" y="3627882"/>
            <a:ext cx="356616" cy="356616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6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8124" y="3696462"/>
            <a:ext cx="219456" cy="219456"/>
          </a:xfrm>
          <a:prstGeom prst="rect">
            <a:avLst/>
          </a:prstGeom>
        </p:spPr>
      </p:pic>
      <p:sp>
        <p:nvSpPr>
          <p:cNvPr id="68" name="Text 58"/>
          <p:cNvSpPr/>
          <p:nvPr/>
        </p:nvSpPr>
        <p:spPr>
          <a:xfrm>
            <a:off x="3648456" y="35661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750" dirty="0"/>
          </a:p>
        </p:txBody>
      </p:sp>
      <p:sp>
        <p:nvSpPr>
          <p:cNvPr id="69" name="Shape 59"/>
          <p:cNvSpPr/>
          <p:nvPr/>
        </p:nvSpPr>
        <p:spPr>
          <a:xfrm>
            <a:off x="5198364" y="3593592"/>
            <a:ext cx="493776" cy="1783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0" name="Text 60"/>
          <p:cNvSpPr/>
          <p:nvPr/>
        </p:nvSpPr>
        <p:spPr>
          <a:xfrm>
            <a:off x="5198364" y="3593592"/>
            <a:ext cx="49377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75" dirty="0"/>
          </a:p>
        </p:txBody>
      </p:sp>
      <p:sp>
        <p:nvSpPr>
          <p:cNvPr id="71" name="Text 61"/>
          <p:cNvSpPr/>
          <p:nvPr/>
        </p:nvSpPr>
        <p:spPr>
          <a:xfrm>
            <a:off x="3648456" y="3840480"/>
            <a:ext cx="200253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13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Incorporates new weather data seamlessly</a:t>
            </a:r>
            <a:endParaRPr lang="en-US" sz="713" dirty="0"/>
          </a:p>
        </p:txBody>
      </p:sp>
      <p:sp>
        <p:nvSpPr>
          <p:cNvPr id="72" name="Shape 62"/>
          <p:cNvSpPr/>
          <p:nvPr/>
        </p:nvSpPr>
        <p:spPr>
          <a:xfrm>
            <a:off x="5932170" y="3477006"/>
            <a:ext cx="2674620" cy="1083564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73" name="Shape 63"/>
          <p:cNvSpPr/>
          <p:nvPr/>
        </p:nvSpPr>
        <p:spPr>
          <a:xfrm>
            <a:off x="5932170" y="3477006"/>
            <a:ext cx="48006" cy="10835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4" name="Shape 64"/>
          <p:cNvSpPr/>
          <p:nvPr/>
        </p:nvSpPr>
        <p:spPr>
          <a:xfrm>
            <a:off x="6055614" y="3627882"/>
            <a:ext cx="356616" cy="356616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7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4194" y="3696462"/>
            <a:ext cx="219456" cy="219456"/>
          </a:xfrm>
          <a:prstGeom prst="rect">
            <a:avLst/>
          </a:prstGeom>
        </p:spPr>
      </p:pic>
      <p:sp>
        <p:nvSpPr>
          <p:cNvPr id="76" name="Text 65"/>
          <p:cNvSpPr/>
          <p:nvPr/>
        </p:nvSpPr>
        <p:spPr>
          <a:xfrm>
            <a:off x="6494526" y="35661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</a:t>
            </a:r>
            <a:endParaRPr lang="en-US" sz="750" dirty="0"/>
          </a:p>
        </p:txBody>
      </p:sp>
      <p:sp>
        <p:nvSpPr>
          <p:cNvPr id="77" name="Shape 66"/>
          <p:cNvSpPr/>
          <p:nvPr/>
        </p:nvSpPr>
        <p:spPr>
          <a:xfrm>
            <a:off x="8044434" y="3593592"/>
            <a:ext cx="493776" cy="1783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8" name="Text 67"/>
          <p:cNvSpPr/>
          <p:nvPr/>
        </p:nvSpPr>
        <p:spPr>
          <a:xfrm>
            <a:off x="8044434" y="3593592"/>
            <a:ext cx="49377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75" dirty="0"/>
          </a:p>
        </p:txBody>
      </p:sp>
      <p:sp>
        <p:nvSpPr>
          <p:cNvPr id="79" name="Text 68"/>
          <p:cNvSpPr/>
          <p:nvPr/>
        </p:nvSpPr>
        <p:spPr>
          <a:xfrm>
            <a:off x="6494526" y="3840480"/>
            <a:ext cx="200253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13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updates as environment shifts over time</a:t>
            </a:r>
            <a:endParaRPr lang="en-US" sz="713" dirty="0"/>
          </a:p>
        </p:txBody>
      </p:sp>
    </p:spTree>
    <p:extLst>
      <p:ext uri="{BB962C8B-B14F-4D97-AF65-F5344CB8AC3E}">
        <p14:creationId xmlns:p14="http://schemas.microsoft.com/office/powerpoint/2010/main" val="2288211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502920" y="118872"/>
            <a:ext cx="2569464" cy="201168"/>
          </a:xfrm>
          <a:prstGeom prst="roundRect">
            <a:avLst>
              <a:gd name="adj" fmla="val 2272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502920" y="118872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ARTIFIN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ANTICIPATED CHALLENGES IN PRODUCTION</a:t>
            </a:r>
            <a:endParaRPr lang="en-US" sz="26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CF782FC-CC5B-5547-4DDB-67110649B3FE}"/>
              </a:ext>
            </a:extLst>
          </p:cNvPr>
          <p:cNvGrpSpPr/>
          <p:nvPr/>
        </p:nvGrpSpPr>
        <p:grpSpPr>
          <a:xfrm>
            <a:off x="320040" y="960120"/>
            <a:ext cx="4206240" cy="1783080"/>
            <a:chOff x="320040" y="960120"/>
            <a:chExt cx="4206240" cy="1783080"/>
          </a:xfrm>
        </p:grpSpPr>
        <p:sp>
          <p:nvSpPr>
            <p:cNvPr id="7" name="Shape 5"/>
            <p:cNvSpPr/>
            <p:nvPr/>
          </p:nvSpPr>
          <p:spPr>
            <a:xfrm>
              <a:off x="320040" y="960120"/>
              <a:ext cx="4206240" cy="1783080"/>
            </a:xfrm>
            <a:prstGeom prst="rect">
              <a:avLst/>
            </a:prstGeom>
            <a:solidFill>
              <a:srgbClr val="103A5E"/>
            </a:solidFill>
            <a:ln w="12700">
              <a:solidFill>
                <a:srgbClr val="1C7293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CH"/>
            </a:p>
          </p:txBody>
        </p:sp>
        <p:sp>
          <p:nvSpPr>
            <p:cNvPr id="8" name="Shape 6"/>
            <p:cNvSpPr/>
            <p:nvPr/>
          </p:nvSpPr>
          <p:spPr>
            <a:xfrm>
              <a:off x="320040" y="960120"/>
              <a:ext cx="91440" cy="1783080"/>
            </a:xfrm>
            <a:prstGeom prst="rect">
              <a:avLst/>
            </a:prstGeom>
            <a:solidFill>
              <a:srgbClr val="02C39A"/>
            </a:solidFill>
            <a:ln w="12700">
              <a:solidFill>
                <a:srgbClr val="02C39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208" y="1097280"/>
              <a:ext cx="384048" cy="384048"/>
            </a:xfrm>
            <a:prstGeom prst="rect">
              <a:avLst/>
            </a:prstGeom>
          </p:spPr>
        </p:pic>
        <p:sp>
          <p:nvSpPr>
            <p:cNvPr id="10" name="Text 7"/>
            <p:cNvSpPr/>
            <p:nvPr/>
          </p:nvSpPr>
          <p:spPr>
            <a:xfrm>
              <a:off x="1033272" y="1097280"/>
              <a:ext cx="3337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Data Drift</a:t>
              </a:r>
              <a:endParaRPr lang="en-US" sz="1400" dirty="0"/>
            </a:p>
          </p:txBody>
        </p:sp>
      </p:grpSp>
      <p:sp>
        <p:nvSpPr>
          <p:cNvPr id="11" name="Text 8"/>
          <p:cNvSpPr/>
          <p:nvPr/>
        </p:nvSpPr>
        <p:spPr>
          <a:xfrm>
            <a:off x="521208" y="155448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patterns shift seasonally — rainfall in March 2023 ≠ March 2025. Model must be retrained or recalibrated regularly.</a:t>
            </a:r>
            <a:endParaRPr lang="en-US" sz="12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964053E-603A-A9D5-46B0-5C2860B4F5B2}"/>
              </a:ext>
            </a:extLst>
          </p:cNvPr>
          <p:cNvGrpSpPr/>
          <p:nvPr/>
        </p:nvGrpSpPr>
        <p:grpSpPr>
          <a:xfrm>
            <a:off x="4754880" y="960120"/>
            <a:ext cx="4206240" cy="1783080"/>
            <a:chOff x="4754880" y="960120"/>
            <a:chExt cx="4206240" cy="1783080"/>
          </a:xfrm>
        </p:grpSpPr>
        <p:sp>
          <p:nvSpPr>
            <p:cNvPr id="12" name="Shape 9"/>
            <p:cNvSpPr/>
            <p:nvPr/>
          </p:nvSpPr>
          <p:spPr>
            <a:xfrm>
              <a:off x="4754880" y="960120"/>
              <a:ext cx="4206240" cy="1783080"/>
            </a:xfrm>
            <a:prstGeom prst="rect">
              <a:avLst/>
            </a:prstGeom>
            <a:solidFill>
              <a:srgbClr val="103A5E"/>
            </a:solidFill>
            <a:ln w="12700">
              <a:solidFill>
                <a:srgbClr val="1C7293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CH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53D56BE-9928-2F81-B320-2199927B2358}"/>
                </a:ext>
              </a:extLst>
            </p:cNvPr>
            <p:cNvGrpSpPr/>
            <p:nvPr/>
          </p:nvGrpSpPr>
          <p:grpSpPr>
            <a:xfrm>
              <a:off x="4754880" y="960120"/>
              <a:ext cx="4087368" cy="1783080"/>
              <a:chOff x="4754880" y="960120"/>
              <a:chExt cx="4087368" cy="1783080"/>
            </a:xfrm>
          </p:grpSpPr>
          <p:sp>
            <p:nvSpPr>
              <p:cNvPr id="13" name="Shape 10"/>
              <p:cNvSpPr/>
              <p:nvPr/>
            </p:nvSpPr>
            <p:spPr>
              <a:xfrm>
                <a:off x="4754880" y="960120"/>
                <a:ext cx="91440" cy="1783080"/>
              </a:xfrm>
              <a:prstGeom prst="rect">
                <a:avLst/>
              </a:prstGeom>
              <a:solidFill>
                <a:srgbClr val="02C39A"/>
              </a:solidFill>
              <a:ln w="12700">
                <a:solidFill>
                  <a:srgbClr val="02C39A"/>
                </a:solidFill>
                <a:prstDash val="solid"/>
              </a:ln>
            </p:spPr>
            <p:txBody>
              <a:bodyPr/>
              <a:lstStyle/>
              <a:p>
                <a:endParaRPr lang="en-CH"/>
              </a:p>
            </p:txBody>
          </p:sp>
          <p:pic>
            <p:nvPicPr>
              <p:cNvPr id="14" name="Image 1" descr="preencoded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56048" y="1097280"/>
                <a:ext cx="384048" cy="384048"/>
              </a:xfrm>
              <a:prstGeom prst="rect">
                <a:avLst/>
              </a:prstGeom>
            </p:spPr>
          </p:pic>
          <p:sp>
            <p:nvSpPr>
              <p:cNvPr id="15" name="Text 11"/>
              <p:cNvSpPr/>
              <p:nvPr/>
            </p:nvSpPr>
            <p:spPr>
              <a:xfrm>
                <a:off x="5468112" y="1097280"/>
                <a:ext cx="333756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Trebuchet MS" pitchFamily="34" charset="0"/>
                    <a:ea typeface="Trebuchet MS" pitchFamily="34" charset="-122"/>
                    <a:cs typeface="Trebuchet MS" pitchFamily="34" charset="-120"/>
                  </a:rPr>
                  <a:t>Label Availability</a:t>
                </a:r>
                <a:endParaRPr lang="en-US" sz="1400" dirty="0"/>
              </a:p>
            </p:txBody>
          </p:sp>
          <p:sp>
            <p:nvSpPr>
              <p:cNvPr id="16" name="Text 12"/>
              <p:cNvSpPr/>
              <p:nvPr/>
            </p:nvSpPr>
            <p:spPr>
              <a:xfrm>
                <a:off x="4956048" y="1554480"/>
                <a:ext cx="3886200" cy="10972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200" dirty="0">
                    <a:solidFill>
                      <a:srgbClr val="5B7FA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 historical disruption events from MOH. Proxy labels may drift from reality over time, making performance hard to monitor.</a:t>
                </a:r>
                <a:endParaRPr lang="en-US" sz="1200" dirty="0"/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379A914-125B-025C-CEFE-DC96F9273ACF}"/>
              </a:ext>
            </a:extLst>
          </p:cNvPr>
          <p:cNvGrpSpPr/>
          <p:nvPr/>
        </p:nvGrpSpPr>
        <p:grpSpPr>
          <a:xfrm>
            <a:off x="320040" y="2926080"/>
            <a:ext cx="4206240" cy="1783080"/>
            <a:chOff x="320040" y="2926080"/>
            <a:chExt cx="4206240" cy="1783080"/>
          </a:xfrm>
        </p:grpSpPr>
        <p:sp>
          <p:nvSpPr>
            <p:cNvPr id="17" name="Shape 13"/>
            <p:cNvSpPr/>
            <p:nvPr/>
          </p:nvSpPr>
          <p:spPr>
            <a:xfrm>
              <a:off x="320040" y="2926080"/>
              <a:ext cx="4206240" cy="1783080"/>
            </a:xfrm>
            <a:prstGeom prst="rect">
              <a:avLst/>
            </a:prstGeom>
            <a:solidFill>
              <a:srgbClr val="103A5E"/>
            </a:solidFill>
            <a:ln w="12700">
              <a:solidFill>
                <a:srgbClr val="1C7293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CH"/>
            </a:p>
          </p:txBody>
        </p:sp>
        <p:sp>
          <p:nvSpPr>
            <p:cNvPr id="18" name="Shape 14"/>
            <p:cNvSpPr/>
            <p:nvPr/>
          </p:nvSpPr>
          <p:spPr>
            <a:xfrm>
              <a:off x="320040" y="2926080"/>
              <a:ext cx="91440" cy="1783080"/>
            </a:xfrm>
            <a:prstGeom prst="rect">
              <a:avLst/>
            </a:prstGeom>
            <a:solidFill>
              <a:srgbClr val="02C39A"/>
            </a:solidFill>
            <a:ln w="12700">
              <a:solidFill>
                <a:srgbClr val="02C39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pic>
          <p:nvPicPr>
            <p:cNvPr id="19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1208" y="3063240"/>
              <a:ext cx="384048" cy="384048"/>
            </a:xfrm>
            <a:prstGeom prst="rect">
              <a:avLst/>
            </a:prstGeom>
          </p:spPr>
        </p:pic>
        <p:sp>
          <p:nvSpPr>
            <p:cNvPr id="20" name="Text 15"/>
            <p:cNvSpPr/>
            <p:nvPr/>
          </p:nvSpPr>
          <p:spPr>
            <a:xfrm>
              <a:off x="1033272" y="3063240"/>
              <a:ext cx="3337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Data Pipeline Reliability</a:t>
              </a:r>
              <a:endParaRPr lang="en-US" sz="1400" dirty="0"/>
            </a:p>
          </p:txBody>
        </p:sp>
      </p:grpSp>
      <p:sp>
        <p:nvSpPr>
          <p:cNvPr id="21" name="Text 16"/>
          <p:cNvSpPr/>
          <p:nvPr/>
        </p:nvSpPr>
        <p:spPr>
          <a:xfrm>
            <a:off x="521208" y="352044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 API, CHIRPS updates, and Healthsites.io can all have delays in changes. </a:t>
            </a:r>
            <a:endParaRPr lang="en-US" sz="12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FAB2692-B042-340C-84BA-C3CD6BDE7FFD}"/>
              </a:ext>
            </a:extLst>
          </p:cNvPr>
          <p:cNvGrpSpPr/>
          <p:nvPr/>
        </p:nvGrpSpPr>
        <p:grpSpPr>
          <a:xfrm>
            <a:off x="4754880" y="2926080"/>
            <a:ext cx="4206240" cy="1783080"/>
            <a:chOff x="4754880" y="2926080"/>
            <a:chExt cx="4206240" cy="1783080"/>
          </a:xfrm>
        </p:grpSpPr>
        <p:sp>
          <p:nvSpPr>
            <p:cNvPr id="22" name="Shape 17"/>
            <p:cNvSpPr/>
            <p:nvPr/>
          </p:nvSpPr>
          <p:spPr>
            <a:xfrm>
              <a:off x="4754880" y="2926080"/>
              <a:ext cx="4206240" cy="1783080"/>
            </a:xfrm>
            <a:prstGeom prst="rect">
              <a:avLst/>
            </a:prstGeom>
            <a:solidFill>
              <a:srgbClr val="103A5E"/>
            </a:solidFill>
            <a:ln w="12700">
              <a:solidFill>
                <a:srgbClr val="1C7293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CH"/>
            </a:p>
          </p:txBody>
        </p:sp>
        <p:sp>
          <p:nvSpPr>
            <p:cNvPr id="23" name="Shape 18"/>
            <p:cNvSpPr/>
            <p:nvPr/>
          </p:nvSpPr>
          <p:spPr>
            <a:xfrm>
              <a:off x="4754880" y="2926080"/>
              <a:ext cx="91440" cy="1783080"/>
            </a:xfrm>
            <a:prstGeom prst="rect">
              <a:avLst/>
            </a:prstGeom>
            <a:solidFill>
              <a:srgbClr val="02C39A"/>
            </a:solidFill>
            <a:ln w="12700">
              <a:solidFill>
                <a:srgbClr val="02C39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pic>
          <p:nvPicPr>
            <p:cNvPr id="24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56048" y="3063240"/>
              <a:ext cx="384048" cy="384048"/>
            </a:xfrm>
            <a:prstGeom prst="rect">
              <a:avLst/>
            </a:prstGeom>
          </p:spPr>
        </p:pic>
        <p:sp>
          <p:nvSpPr>
            <p:cNvPr id="25" name="Text 19"/>
            <p:cNvSpPr/>
            <p:nvPr/>
          </p:nvSpPr>
          <p:spPr>
            <a:xfrm>
              <a:off x="5468112" y="3063240"/>
              <a:ext cx="3337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Explainability for Stakeholders</a:t>
              </a:r>
              <a:endParaRPr lang="en-US" sz="1400" dirty="0"/>
            </a:p>
          </p:txBody>
        </p:sp>
      </p:grpSp>
      <p:sp>
        <p:nvSpPr>
          <p:cNvPr id="26" name="Text 20"/>
          <p:cNvSpPr/>
          <p:nvPr/>
        </p:nvSpPr>
        <p:spPr>
          <a:xfrm>
            <a:off x="4956048" y="352044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officers need to trust the alert. SHAP explanations and clear confidence scores are essential for adoption.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6225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D7A9B54-13AE-618B-C21E-63E46FF65A5F}"/>
              </a:ext>
            </a:extLst>
          </p:cNvPr>
          <p:cNvSpPr txBox="1"/>
          <p:nvPr/>
        </p:nvSpPr>
        <p:spPr>
          <a:xfrm>
            <a:off x="97071" y="283068"/>
            <a:ext cx="2477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rebuchet MS" panose="020B0603020202020204" pitchFamily="34" charset="0"/>
              </a:rPr>
              <a:t>SDG FOCUS</a:t>
            </a:r>
            <a:endParaRPr lang="en-CH" sz="2400" b="1" dirty="0">
              <a:latin typeface="Trebuchet MS" panose="020B0603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4D26AE0-2932-29C8-A2FF-0A17B380F065}"/>
              </a:ext>
            </a:extLst>
          </p:cNvPr>
          <p:cNvGrpSpPr/>
          <p:nvPr/>
        </p:nvGrpSpPr>
        <p:grpSpPr>
          <a:xfrm>
            <a:off x="845068" y="882502"/>
            <a:ext cx="6241531" cy="1600200"/>
            <a:chOff x="239013" y="776177"/>
            <a:chExt cx="4878848" cy="1404049"/>
          </a:xfrm>
        </p:grpSpPr>
        <p:pic>
          <p:nvPicPr>
            <p:cNvPr id="17" name="Picture 16" descr="3 Good Health and Well-being.&#10;&#10;AI-generated content may be incorrect.">
              <a:extLst>
                <a:ext uri="{FF2B5EF4-FFF2-40B4-BE49-F238E27FC236}">
                  <a16:creationId xmlns:a16="http://schemas.microsoft.com/office/drawing/2014/main" id="{658F1A9E-7309-1849-6549-355D74F64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239013" y="900000"/>
              <a:ext cx="900000" cy="900000"/>
            </a:xfrm>
            <a:prstGeom prst="rect">
              <a:avLst/>
            </a:prstGeom>
          </p:spPr>
        </p:pic>
        <p:pic>
          <p:nvPicPr>
            <p:cNvPr id="19" name="Picture 18" descr="The image emphasizes the importance of enhancing early warning systems for global health risks, particularly in developing countries, to improve risk management and national and global health security.&#10;&#10;AI-generated content may be incorrect.">
              <a:extLst>
                <a:ext uri="{FF2B5EF4-FFF2-40B4-BE49-F238E27FC236}">
                  <a16:creationId xmlns:a16="http://schemas.microsoft.com/office/drawing/2014/main" id="{67749C54-0356-737B-592F-B92A1A834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86525" y="776177"/>
              <a:ext cx="3931336" cy="1404049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09E81FB-5A28-25A2-D553-A6D3E0C55683}"/>
              </a:ext>
            </a:extLst>
          </p:cNvPr>
          <p:cNvGrpSpPr/>
          <p:nvPr/>
        </p:nvGrpSpPr>
        <p:grpSpPr>
          <a:xfrm>
            <a:off x="946072" y="2971801"/>
            <a:ext cx="6076506" cy="1767798"/>
            <a:chOff x="649915" y="3241687"/>
            <a:chExt cx="4803682" cy="1444748"/>
          </a:xfrm>
        </p:grpSpPr>
        <p:pic>
          <p:nvPicPr>
            <p:cNvPr id="5" name="Picture 4" descr="The image depicts a target aimed at reducing the impact of natural disasters, emphasizing a goal to significantly decrease fatalities, affected populations, and economic losses by 2030, particularly focusing on water-related disasters and aiding vulnerable communities.&#10;&#10;AI-generated content may be incorrect.">
              <a:extLst>
                <a:ext uri="{FF2B5EF4-FFF2-40B4-BE49-F238E27FC236}">
                  <a16:creationId xmlns:a16="http://schemas.microsoft.com/office/drawing/2014/main" id="{549D1A48-113E-CB17-C521-58593E2FF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74267" y="3241687"/>
              <a:ext cx="3779330" cy="1444748"/>
            </a:xfrm>
            <a:prstGeom prst="rect">
              <a:avLst/>
            </a:prstGeom>
          </p:spPr>
        </p:pic>
        <p:pic>
          <p:nvPicPr>
            <p:cNvPr id="22" name="Picture 21" descr="The image depicts a vibrant urban skyline with various buildings, symbolizing the concept of sustainable cities and communities.&#10;&#10;AI-generated content may be incorrect.">
              <a:extLst>
                <a:ext uri="{FF2B5EF4-FFF2-40B4-BE49-F238E27FC236}">
                  <a16:creationId xmlns:a16="http://schemas.microsoft.com/office/drawing/2014/main" id="{EACD554C-C9C3-F328-10C7-E5C79945D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837473B0-CC2E-450A-ABE3-18F120FF3D39}">
                  <a1611:picAttrSrcUrl xmlns:a1611="http://schemas.microsoft.com/office/drawing/2016/11/main" r:id="rId8"/>
                </a:ext>
              </a:extLst>
            </a:blip>
            <a:stretch>
              <a:fillRect/>
            </a:stretch>
          </p:blipFill>
          <p:spPr>
            <a:xfrm>
              <a:off x="649915" y="3514061"/>
              <a:ext cx="900000" cy="900000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889418C-7570-35A8-0CE7-6FA0F1C80CFA}"/>
              </a:ext>
            </a:extLst>
          </p:cNvPr>
          <p:cNvGrpSpPr/>
          <p:nvPr/>
        </p:nvGrpSpPr>
        <p:grpSpPr>
          <a:xfrm>
            <a:off x="7618228" y="186125"/>
            <a:ext cx="1212547" cy="1674998"/>
            <a:chOff x="7618228" y="182974"/>
            <a:chExt cx="1212547" cy="1674998"/>
          </a:xfrm>
        </p:grpSpPr>
        <p:pic>
          <p:nvPicPr>
            <p:cNvPr id="8" name="Picture 7" descr="The image depicts a stylized eye with the Earth, emphasizing the urgency of climate action.&#10;&#10;AI-generated content may be incorrect.">
              <a:extLst>
                <a:ext uri="{FF2B5EF4-FFF2-40B4-BE49-F238E27FC236}">
                  <a16:creationId xmlns:a16="http://schemas.microsoft.com/office/drawing/2014/main" id="{135BB308-EEBF-B709-AA32-F9D887907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837473B0-CC2E-450A-ABE3-18F120FF3D39}">
                  <a1611:picAttrSrcUrl xmlns:a1611="http://schemas.microsoft.com/office/drawing/2016/11/main" r:id="rId10"/>
                </a:ext>
              </a:extLst>
            </a:blip>
            <a:stretch>
              <a:fillRect/>
            </a:stretch>
          </p:blipFill>
          <p:spPr>
            <a:xfrm>
              <a:off x="7618228" y="182974"/>
              <a:ext cx="1212547" cy="1212547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E4799ED-551B-916A-A6A4-B039F894D6A1}"/>
                </a:ext>
              </a:extLst>
            </p:cNvPr>
            <p:cNvSpPr txBox="1"/>
            <p:nvPr/>
          </p:nvSpPr>
          <p:spPr>
            <a:xfrm>
              <a:off x="7804298" y="1491217"/>
              <a:ext cx="824023" cy="36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13.1 </a:t>
              </a:r>
              <a:endParaRPr lang="en-CH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7F67771-083A-9C7E-C3D6-DA1083F407C1}"/>
              </a:ext>
            </a:extLst>
          </p:cNvPr>
          <p:cNvGrpSpPr/>
          <p:nvPr/>
        </p:nvGrpSpPr>
        <p:grpSpPr>
          <a:xfrm>
            <a:off x="7692658" y="2910481"/>
            <a:ext cx="1212547" cy="1674998"/>
            <a:chOff x="7618228" y="182974"/>
            <a:chExt cx="1212547" cy="1674998"/>
          </a:xfrm>
        </p:grpSpPr>
        <p:pic>
          <p:nvPicPr>
            <p:cNvPr id="28" name="Picture 27" descr="The image depicts a stylized eye with the Earth, emphasizing the urgency of climate action.&#10;&#10;AI-generated content may be incorrect.">
              <a:extLst>
                <a:ext uri="{FF2B5EF4-FFF2-40B4-BE49-F238E27FC236}">
                  <a16:creationId xmlns:a16="http://schemas.microsoft.com/office/drawing/2014/main" id="{654A0858-DEF8-183C-78CC-CF9FFD208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837473B0-CC2E-450A-ABE3-18F120FF3D39}">
                  <a1611:picAttrSrcUrl xmlns:a1611="http://schemas.microsoft.com/office/drawing/2016/11/main" r:id="rId10"/>
                </a:ext>
              </a:extLst>
            </a:blip>
            <a:stretch>
              <a:fillRect/>
            </a:stretch>
          </p:blipFill>
          <p:spPr>
            <a:xfrm>
              <a:off x="7618228" y="182974"/>
              <a:ext cx="1212547" cy="1212547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288158F-B1AC-DDEE-DF3B-E00C53D76B99}"/>
                </a:ext>
              </a:extLst>
            </p:cNvPr>
            <p:cNvSpPr txBox="1"/>
            <p:nvPr/>
          </p:nvSpPr>
          <p:spPr>
            <a:xfrm>
              <a:off x="7804298" y="1491217"/>
              <a:ext cx="824023" cy="36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13.2 </a:t>
              </a:r>
              <a:endParaRPr lang="en-CH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461FA5E-5F3C-3E91-4DF0-70E5EB48D2E0}"/>
              </a:ext>
            </a:extLst>
          </p:cNvPr>
          <p:cNvGrpSpPr/>
          <p:nvPr/>
        </p:nvGrpSpPr>
        <p:grpSpPr>
          <a:xfrm>
            <a:off x="-57171" y="0"/>
            <a:ext cx="2721684" cy="286421"/>
            <a:chOff x="341550" y="634702"/>
            <a:chExt cx="2721684" cy="286421"/>
          </a:xfrm>
        </p:grpSpPr>
        <p:sp>
          <p:nvSpPr>
            <p:cNvPr id="31" name="Shape 5">
              <a:extLst>
                <a:ext uri="{FF2B5EF4-FFF2-40B4-BE49-F238E27FC236}">
                  <a16:creationId xmlns:a16="http://schemas.microsoft.com/office/drawing/2014/main" id="{B164C1EB-79F1-30B3-5A67-830F795C6217}"/>
                </a:ext>
              </a:extLst>
            </p:cNvPr>
            <p:cNvSpPr/>
            <p:nvPr/>
          </p:nvSpPr>
          <p:spPr>
            <a:xfrm>
              <a:off x="406097" y="634702"/>
              <a:ext cx="2657137" cy="286421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32" name="Text 6">
              <a:extLst>
                <a:ext uri="{FF2B5EF4-FFF2-40B4-BE49-F238E27FC236}">
                  <a16:creationId xmlns:a16="http://schemas.microsoft.com/office/drawing/2014/main" id="{6F9CB07E-601D-9B46-9F42-E8B895F2ED02}"/>
                </a:ext>
              </a:extLst>
            </p:cNvPr>
            <p:cNvSpPr/>
            <p:nvPr/>
          </p:nvSpPr>
          <p:spPr>
            <a:xfrm>
              <a:off x="341550" y="650838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kern="0" spc="150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ARTIFICIAL INTELLIGENCE PROJECT (ARTIFIN)</a:t>
              </a:r>
              <a:endParaRPr lang="en-US" sz="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2497308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502920" y="118872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502920" y="1188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ARTIFIN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8138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rebuchet MS" panose="020B0603020202020204" pitchFamily="34" charset="0"/>
              </a:rPr>
              <a:t>Funk, C.C., Peterson, P.J., </a:t>
            </a:r>
            <a:r>
              <a:rPr lang="en-US" sz="2000" dirty="0" err="1">
                <a:latin typeface="Trebuchet MS" panose="020B0603020202020204" pitchFamily="34" charset="0"/>
              </a:rPr>
              <a:t>Landsfeld</a:t>
            </a:r>
            <a:r>
              <a:rPr lang="en-US" sz="2000" dirty="0">
                <a:latin typeface="Trebuchet MS" panose="020B0603020202020204" pitchFamily="34" charset="0"/>
              </a:rPr>
              <a:t>, M.F., </a:t>
            </a:r>
            <a:r>
              <a:rPr lang="en-US" sz="2000" dirty="0" err="1">
                <a:latin typeface="Trebuchet MS" panose="020B0603020202020204" pitchFamily="34" charset="0"/>
              </a:rPr>
              <a:t>Pedreros</a:t>
            </a:r>
            <a:r>
              <a:rPr lang="en-US" sz="2000" dirty="0">
                <a:latin typeface="Trebuchet MS" panose="020B0603020202020204" pitchFamily="34" charset="0"/>
              </a:rPr>
              <a:t>, D.H., Verdin, J.P., Rowland, J.D., Romero, B.E., Husak, G.J., Michaelsen, J.C., and Verdin, A.P., 2014, A quasi-global precipitation time series for drought monitoring: U.S. Geological Survey Data Series 832, 4 p. </a:t>
            </a:r>
            <a:r>
              <a:rPr lang="en-US" sz="2000" dirty="0">
                <a:latin typeface="Trebuchet MS" panose="020B0603020202020204" pitchFamily="34" charset="0"/>
                <a:hlinkClick r:id="rId3"/>
              </a:rPr>
              <a:t>http://pubs.usgs.gov/ds/832/</a:t>
            </a:r>
            <a:endParaRPr lang="en-US" sz="2000" dirty="0"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2E3C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Copernicus Climate Change Service / ERA5-Land. ECMWF. </a:t>
            </a:r>
            <a:r>
              <a:rPr lang="en-US" sz="2000" dirty="0">
                <a:solidFill>
                  <a:srgbClr val="1A2E3C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  <a:hlinkClick r:id="rId4"/>
              </a:rPr>
              <a:t>https://cds.climate.copernicus.eu</a:t>
            </a:r>
            <a:endParaRPr lang="en-US" sz="2000" dirty="0"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2E3C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Healthsites.io — Global healthcare facility database. </a:t>
            </a:r>
            <a:r>
              <a:rPr lang="en-US" sz="2000" dirty="0">
                <a:solidFill>
                  <a:srgbClr val="1A2E3C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  <a:hlinkClick r:id="rId5"/>
              </a:rPr>
              <a:t>https://healthsites.io</a:t>
            </a:r>
            <a:endParaRPr lang="en-US" sz="2000" dirty="0"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2E3C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Jarvis, A. et al., 2008. Hole-filled SRTM for the globe v4. CGIAR-CSI. https://srtm.csi.cgiar.org</a:t>
            </a:r>
            <a:endParaRPr lang="en-US" sz="2000" dirty="0">
              <a:latin typeface="Trebuchet MS" panose="020B0603020202020204" pitchFamily="34" charset="0"/>
            </a:endParaRPr>
          </a:p>
          <a:p>
            <a:endParaRPr lang="en-CH" sz="20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950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91440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514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Climate-Resilient</a:t>
            </a:r>
            <a:endParaRPr lang="en-US" sz="3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Systems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1440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Facility-Level Weather Impact Risk Alert System · Tanzania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Healthsites.io  ·  CHIRPS  ·  ERA5-Land  ·  SRTM  ·  Google Earth Engine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939</Words>
  <Application>Microsoft Office PowerPoint</Application>
  <PresentationFormat>On-screen Show (16:9)</PresentationFormat>
  <Paragraphs>173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Facility-Level Weather Impact Risk Alert System</dc:title>
  <dc:subject>PptxGenJS Presentation</dc:subject>
  <dc:creator>Tanzania Health GIS Project</dc:creator>
  <cp:lastModifiedBy>Mziray Belinda I.MSCITDS.2501</cp:lastModifiedBy>
  <cp:revision>37</cp:revision>
  <dcterms:created xsi:type="dcterms:W3CDTF">2026-02-22T20:42:45Z</dcterms:created>
  <dcterms:modified xsi:type="dcterms:W3CDTF">2026-02-24T11:02:58Z</dcterms:modified>
</cp:coreProperties>
</file>